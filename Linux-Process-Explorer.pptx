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embeddedFontLst>
    <p:embeddedFont>
      <p:font typeface="Instrument Sans"/>
      <p:regular r:id="rId201314"/>
    </p:embeddedFont>
    <p:embeddedFont>
      <p:font typeface="Instrument Sans Medium"/>
      <p:regular r:id="rId201315"/>
    </p:embeddedFont>
    <p:embeddedFont>
      <p:font typeface="Instrument Sans Bold"/>
      <p:regular r:id="rId201316"/>
    </p:embeddedFont>
    <p:embeddedFont>
      <p:font typeface="Open Sans Bold"/>
      <p:regular r:id="rId201317"/>
    </p:embeddedFont>
    <p:embeddedFont>
      <p:font typeface="Open Sans"/>
      <p:regular r:id="rId201318"/>
    </p:embeddedFont>
    <p:embeddedFont>
      <p:font typeface="Open Sans Medium"/>
      <p:regular r:id="rId201319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Relationship Id="rId201319" Target="fonts/201319.fntdata" Type="http://schemas.openxmlformats.org/officeDocument/2006/relationships/font"/><Relationship Id="rId201320" Target="fonts/201320.fntdata" Type="http://schemas.openxmlformats.org/officeDocument/2006/relationships/font"/><Relationship Id="rId201321" Target="fonts/201321.fntdata" Type="http://schemas.openxmlformats.org/officeDocument/2006/relationships/font"/><Relationship Id="rId201322" Target="fonts/201322.fntdata" Type="http://schemas.openxmlformats.org/officeDocument/2006/relationships/font"/><Relationship Id="rId201323" Target="fonts/201323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00000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F1F1F"/>
          </a:solidFill>
          <a:ln/>
        </p:spPr>
      </p:sp>
      <p:pic>
        <p:nvPicPr>
          <p:cNvPr id="4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svg"/><Relationship Id="rId3" Type="http://schemas.openxmlformats.org/officeDocument/2006/relationships/image" Target="../media/image-2-1.png"/><Relationship Id="rId4" Type="http://schemas.openxmlformats.org/officeDocument/2006/relationships/image" Target="../media/image-2-2.svg"/><Relationship Id="rId5" Type="http://schemas.openxmlformats.org/officeDocument/2006/relationships/image" Target="../media/image-2-1.png"/><Relationship Id="rId6" Type="http://schemas.openxmlformats.org/officeDocument/2006/relationships/image" Target="../media/image-2-2.svg"/><Relationship Id="rId7" Type="http://schemas.openxmlformats.org/officeDocument/2006/relationships/image" Target="../media/image-2-7.png"/><Relationship Id="rId8" Type="http://schemas.openxmlformats.org/officeDocument/2006/relationships/image" Target="../media/image-2-8.svg"/><Relationship Id="rId9" Type="http://schemas.openxmlformats.org/officeDocument/2006/relationships/slideLayout" Target="../slideLayouts/slideLayout2.xml"/><Relationship Id="rId10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1.png"/><Relationship Id="rId4" Type="http://schemas.openxmlformats.org/officeDocument/2006/relationships/image" Target="../media/image-3-2.svg"/><Relationship Id="rId5" Type="http://schemas.openxmlformats.org/officeDocument/2006/relationships/image" Target="../media/image-3-1.png"/><Relationship Id="rId6" Type="http://schemas.openxmlformats.org/officeDocument/2006/relationships/image" Target="../media/image-3-2.svg"/><Relationship Id="rId7" Type="http://schemas.openxmlformats.org/officeDocument/2006/relationships/image" Target="../media/image-3-1.png"/><Relationship Id="rId8" Type="http://schemas.openxmlformats.org/officeDocument/2006/relationships/image" Target="../media/image-3-2.svg"/><Relationship Id="rId9" Type="http://schemas.openxmlformats.org/officeDocument/2006/relationships/image" Target="../media/image-3-1.png"/><Relationship Id="rId10" Type="http://schemas.openxmlformats.org/officeDocument/2006/relationships/image" Target="../media/image-3-2.svg"/><Relationship Id="rId11" Type="http://schemas.openxmlformats.org/officeDocument/2006/relationships/image" Target="../media/image-3-1.png"/><Relationship Id="rId12" Type="http://schemas.openxmlformats.org/officeDocument/2006/relationships/image" Target="../media/image-3-2.svg"/><Relationship Id="rId13" Type="http://schemas.openxmlformats.org/officeDocument/2006/relationships/image" Target="../media/image-3-1.png"/><Relationship Id="rId14" Type="http://schemas.openxmlformats.org/officeDocument/2006/relationships/image" Target="../media/image-3-2.svg"/><Relationship Id="rId15" Type="http://schemas.openxmlformats.org/officeDocument/2006/relationships/slideLayout" Target="../slideLayouts/slideLayout2.xml"/><Relationship Id="rId1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svg"/><Relationship Id="rId3" Type="http://schemas.openxmlformats.org/officeDocument/2006/relationships/image" Target="../media/image-5-3.png"/><Relationship Id="rId4" Type="http://schemas.openxmlformats.org/officeDocument/2006/relationships/image" Target="../media/image-5-4.svg"/><Relationship Id="rId5" Type="http://schemas.openxmlformats.org/officeDocument/2006/relationships/image" Target="../media/image-5-5.png"/><Relationship Id="rId6" Type="http://schemas.openxmlformats.org/officeDocument/2006/relationships/image" Target="../media/image-5-6.svg"/><Relationship Id="rId7" Type="http://schemas.openxmlformats.org/officeDocument/2006/relationships/image" Target="../media/image-5-7.png"/><Relationship Id="rId8" Type="http://schemas.openxmlformats.org/officeDocument/2006/relationships/image" Target="../media/image-5-8.svg"/><Relationship Id="rId9" Type="http://schemas.openxmlformats.org/officeDocument/2006/relationships/image" Target="../media/image-5-9.png"/><Relationship Id="rId10" Type="http://schemas.openxmlformats.org/officeDocument/2006/relationships/image" Target="../media/image-5-10.svg"/><Relationship Id="rId11" Type="http://schemas.openxmlformats.org/officeDocument/2006/relationships/slideLayout" Target="../slideLayouts/slideLayout2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4721"/>
            <a:ext cx="8151763" cy="37549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23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Linux Process Explorer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96119" y="806723"/>
            <a:ext cx="8151763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Open Source Software Programming (OSSP) Project</a:t>
            </a:r>
            <a:endParaRPr lang="en-US" sz="1150" dirty="0"/>
          </a:p>
        </p:txBody>
      </p:sp>
      <p:sp>
        <p:nvSpPr>
          <p:cNvPr id="4" name="Shape 2"/>
          <p:cNvSpPr/>
          <p:nvPr/>
        </p:nvSpPr>
        <p:spPr>
          <a:xfrm>
            <a:off x="496119" y="1199034"/>
            <a:ext cx="8151763" cy="14288"/>
          </a:xfrm>
          <a:prstGeom prst="roundRect">
            <a:avLst>
              <a:gd name="adj" fmla="val 49998"/>
            </a:avLst>
          </a:prstGeom>
          <a:solidFill>
            <a:srgbClr val="BFBFBF">
              <a:alpha val="5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409575" y="1374204"/>
            <a:ext cx="4102373" cy="3384500"/>
          </a:xfrm>
          <a:prstGeom prst="roundRect">
            <a:avLst>
              <a:gd name="adj" fmla="val 533"/>
            </a:avLst>
          </a:prstGeom>
          <a:solidFill>
            <a:srgbClr val="004E89"/>
          </a:solidFill>
          <a:ln/>
        </p:spPr>
      </p:sp>
      <p:sp>
        <p:nvSpPr>
          <p:cNvPr id="6" name="Text 4"/>
          <p:cNvSpPr/>
          <p:nvPr/>
        </p:nvSpPr>
        <p:spPr>
          <a:xfrm>
            <a:off x="529679" y="1490588"/>
            <a:ext cx="3862164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Team G-8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529679" y="1809229"/>
            <a:ext cx="240283" cy="150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29679" y="1999059"/>
            <a:ext cx="3862164" cy="14288"/>
          </a:xfrm>
          <a:prstGeom prst="rect">
            <a:avLst/>
          </a:prstGeom>
          <a:solidFill>
            <a:srgbClr val="F5F547"/>
          </a:solidFill>
          <a:ln/>
        </p:spPr>
      </p:sp>
      <p:sp>
        <p:nvSpPr>
          <p:cNvPr id="9" name="Text 7"/>
          <p:cNvSpPr/>
          <p:nvPr/>
        </p:nvSpPr>
        <p:spPr>
          <a:xfrm>
            <a:off x="529679" y="2087687"/>
            <a:ext cx="3862164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Evyavan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529679" y="2391817"/>
            <a:ext cx="3862164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ID: 2510030054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529679" y="2787551"/>
            <a:ext cx="240283" cy="150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02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529679" y="2977381"/>
            <a:ext cx="3862164" cy="14288"/>
          </a:xfrm>
          <a:prstGeom prst="rect">
            <a:avLst/>
          </a:prstGeom>
          <a:solidFill>
            <a:srgbClr val="F5F547"/>
          </a:solidFill>
          <a:ln/>
        </p:spPr>
      </p:sp>
      <p:sp>
        <p:nvSpPr>
          <p:cNvPr id="13" name="Text 11"/>
          <p:cNvSpPr/>
          <p:nvPr/>
        </p:nvSpPr>
        <p:spPr>
          <a:xfrm>
            <a:off x="529679" y="3066008"/>
            <a:ext cx="3862164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Rishi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529679" y="3370138"/>
            <a:ext cx="3862164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ID: 2510030134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29679" y="3765872"/>
            <a:ext cx="240283" cy="15016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Instrument Sans" pitchFamily="34" charset="0"/>
                <a:ea typeface="Instrument Sans" pitchFamily="34" charset="-122"/>
                <a:cs typeface="Instrument Sans" pitchFamily="34" charset="-120"/>
              </a:rPr>
              <a:t>03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529679" y="3955703"/>
            <a:ext cx="3862164" cy="14288"/>
          </a:xfrm>
          <a:prstGeom prst="rect">
            <a:avLst/>
          </a:prstGeom>
          <a:solidFill>
            <a:srgbClr val="F5F547"/>
          </a:solidFill>
          <a:ln/>
        </p:spPr>
      </p:sp>
      <p:sp>
        <p:nvSpPr>
          <p:cNvPr id="17" name="Text 15"/>
          <p:cNvSpPr/>
          <p:nvPr/>
        </p:nvSpPr>
        <p:spPr>
          <a:xfrm>
            <a:off x="529679" y="4044330"/>
            <a:ext cx="3862164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Suhas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29679" y="4348460"/>
            <a:ext cx="3862164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ID: 2510030119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4723358" y="1490588"/>
            <a:ext cx="3929286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Project Overview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4723358" y="1794718"/>
            <a:ext cx="3929286" cy="5677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lightweight, real-time </a:t>
            </a:r>
            <a:pPr algn="l" indent="0" marL="0">
              <a:lnSpc>
                <a:spcPct val="131000"/>
              </a:lnSpc>
              <a:buNone/>
            </a:pPr>
            <a:r>
              <a:rPr lang="en-US" sz="90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Linux process monitoring tool</a:t>
            </a:r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built entirely in C, leveraging the </a:t>
            </a:r>
            <a:pPr algn="l" indent="0" marL="0">
              <a:lnSpc>
                <a:spcPct val="131000"/>
              </a:lnSpc>
              <a:buNone/>
            </a:pPr>
            <a:r>
              <a:rPr lang="en-US" sz="900" b="1" dirty="0">
                <a:solidFill>
                  <a:srgbClr val="FF6B35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/proc filesystem</a:t>
            </a:r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Linux system calls to provide comprehensive process visibility from the command line.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723358" y="2523306"/>
            <a:ext cx="3929286" cy="14288"/>
          </a:xfrm>
          <a:prstGeom prst="roundRect">
            <a:avLst>
              <a:gd name="adj" fmla="val 49998"/>
            </a:avLst>
          </a:prstGeom>
          <a:solidFill>
            <a:srgbClr val="BFBFBF">
              <a:alpha val="5000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4723358" y="2698477"/>
            <a:ext cx="1906414" cy="733574"/>
          </a:xfrm>
          <a:prstGeom prst="roundRect">
            <a:avLst>
              <a:gd name="adj" fmla="val 2457"/>
            </a:avLst>
          </a:prstGeom>
          <a:solidFill>
            <a:srgbClr val="3E3E3E"/>
          </a:solidFill>
          <a:ln/>
        </p:spPr>
      </p:sp>
      <p:sp>
        <p:nvSpPr>
          <p:cNvPr id="23" name="Text 21"/>
          <p:cNvSpPr/>
          <p:nvPr/>
        </p:nvSpPr>
        <p:spPr>
          <a:xfrm>
            <a:off x="4843463" y="2818581"/>
            <a:ext cx="1666205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Language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4843463" y="3122712"/>
            <a:ext cx="1666205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 (Systems)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6746156" y="2698477"/>
            <a:ext cx="1906488" cy="733574"/>
          </a:xfrm>
          <a:prstGeom prst="roundRect">
            <a:avLst>
              <a:gd name="adj" fmla="val 2457"/>
            </a:avLst>
          </a:prstGeom>
          <a:solidFill>
            <a:srgbClr val="3E3E3E"/>
          </a:solidFill>
          <a:ln/>
        </p:spPr>
      </p:sp>
      <p:sp>
        <p:nvSpPr>
          <p:cNvPr id="26" name="Text 24"/>
          <p:cNvSpPr/>
          <p:nvPr/>
        </p:nvSpPr>
        <p:spPr>
          <a:xfrm>
            <a:off x="6866260" y="2818581"/>
            <a:ext cx="1666280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Platform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6866260" y="3122712"/>
            <a:ext cx="1666280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Linux / Ubuntu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23358" y="3548435"/>
            <a:ext cx="3929286" cy="733574"/>
          </a:xfrm>
          <a:prstGeom prst="roundRect">
            <a:avLst>
              <a:gd name="adj" fmla="val 2457"/>
            </a:avLst>
          </a:prstGeom>
          <a:solidFill>
            <a:srgbClr val="3E3E3E"/>
          </a:solidFill>
          <a:ln/>
        </p:spPr>
      </p:sp>
      <p:sp>
        <p:nvSpPr>
          <p:cNvPr id="29" name="Text 27"/>
          <p:cNvSpPr/>
          <p:nvPr/>
        </p:nvSpPr>
        <p:spPr>
          <a:xfrm>
            <a:off x="4843463" y="3668539"/>
            <a:ext cx="3689077" cy="18774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Source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4843463" y="3972669"/>
            <a:ext cx="3689077" cy="1892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1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/proc FS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48183"/>
            <a:ext cx="8151763" cy="381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970062"/>
            <a:ext cx="8151763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Linux systems run </a:t>
            </a:r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FF6B35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hundreds of concurrent processes</a:t>
            </a:r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at any given moment. Existing command-line tools fragment this information across multiple utilities, making real-time comprehensive monitoring difficult for developers and system administrators.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628180"/>
            <a:ext cx="3926979" cy="135895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89595" y="1764506"/>
            <a:ext cx="3597176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🔴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The Challenge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89595" y="2075408"/>
            <a:ext cx="3597176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Linux systems execute hundreds of processes simultaneously. Native commands like </a:t>
            </a:r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ps</a:t>
            </a:r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</a:t>
            </a:r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top</a:t>
            </a:r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and </a:t>
            </a:r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htop</a:t>
            </a:r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provide fragmented views — no single tool offers unified, programmable process visibility through a lightweight CLI interface.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3107308"/>
            <a:ext cx="3926979" cy="13589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89595" y="3243635"/>
            <a:ext cx="3597176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⚠️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Current Limitations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689595" y="3554537"/>
            <a:ext cx="3597176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Standard built-in tools lack </a:t>
            </a:r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user-friendly interfaces</a:t>
            </a:r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 comprehensive process inspection. They offer limited filtering, poor search capabilities, and minimal process management — especially for educational and low-overhead environments.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25665" y="1628180"/>
            <a:ext cx="3926979" cy="135895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919142" y="1764506"/>
            <a:ext cx="3597176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📋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What's Needed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4919142" y="2075408"/>
            <a:ext cx="3597176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lightweight, efficient tool that displays </a:t>
            </a:r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FF6B35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PID, process name, CPU usage, memory usage, process state, and priority</a:t>
            </a:r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 a single cohesive view — without requiring elevated system privileges.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25665" y="3107308"/>
            <a:ext cx="3926979" cy="155279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919142" y="3243635"/>
            <a:ext cx="3597176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🎯</a:t>
            </a:r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The Goal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4919142" y="3554537"/>
            <a:ext cx="3597176" cy="9692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Enable </a:t>
            </a:r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process search, sorting, and basic management operations</a:t>
            </a:r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(signal dispatch, termination) through a single command-line interface — demonstrating real-world Linux system programming concepts in a practical, open-source deliverable.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0181"/>
            <a:ext cx="8151763" cy="2604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6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Project Objectives</a:t>
            </a:r>
            <a:endParaRPr lang="en-US" sz="1600" dirty="0"/>
          </a:p>
        </p:txBody>
      </p:sp>
      <p:sp>
        <p:nvSpPr>
          <p:cNvPr id="3" name="Text 1"/>
          <p:cNvSpPr/>
          <p:nvPr/>
        </p:nvSpPr>
        <p:spPr>
          <a:xfrm>
            <a:off x="496119" y="752624"/>
            <a:ext cx="8608963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6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Seven focused objectives guide the development of the Linux Process Explorer, spanning monitoring, display, management, and educational demonstration of system programming concepts.</a:t>
            </a:r>
            <a:endParaRPr lang="en-US" sz="6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927050"/>
            <a:ext cx="8151763" cy="500062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823" y="1098947"/>
            <a:ext cx="125016" cy="1562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894978" y="1019919"/>
            <a:ext cx="7660035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Real-Time Monitoring</a:t>
            </a:r>
            <a:endParaRPr lang="en-US" sz="800" dirty="0"/>
          </a:p>
        </p:txBody>
      </p:sp>
      <p:sp>
        <p:nvSpPr>
          <p:cNvPr id="7" name="Text 4"/>
          <p:cNvSpPr/>
          <p:nvPr/>
        </p:nvSpPr>
        <p:spPr>
          <a:xfrm>
            <a:off x="894978" y="1183704"/>
            <a:ext cx="7660035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6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Monitor all currently running Linux processes in real-time with live refresh cycles.</a:t>
            </a:r>
            <a:endParaRPr lang="en-US" sz="6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6119" y="1483072"/>
            <a:ext cx="8151763" cy="500062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09823" y="1654969"/>
            <a:ext cx="125016" cy="1562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894978" y="1575941"/>
            <a:ext cx="7660035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Core Metrics Display</a:t>
            </a:r>
            <a:endParaRPr lang="en-US" sz="800" dirty="0"/>
          </a:p>
        </p:txBody>
      </p:sp>
      <p:sp>
        <p:nvSpPr>
          <p:cNvPr id="11" name="Text 7"/>
          <p:cNvSpPr/>
          <p:nvPr/>
        </p:nvSpPr>
        <p:spPr>
          <a:xfrm>
            <a:off x="894978" y="1739726"/>
            <a:ext cx="7660035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6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Display </a:t>
            </a:r>
            <a:pPr algn="l" indent="0" marL="0">
              <a:lnSpc>
                <a:spcPct val="111000"/>
              </a:lnSpc>
              <a:buNone/>
            </a:pPr>
            <a:r>
              <a:rPr lang="en-US" sz="650" b="1" dirty="0">
                <a:solidFill>
                  <a:srgbClr val="FF6B35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PID, process name, CPU usage, and memory usage</a:t>
            </a:r>
            <a:pPr algn="l" indent="0" marL="0">
              <a:lnSpc>
                <a:spcPct val="111000"/>
              </a:lnSpc>
              <a:buNone/>
            </a:pPr>
            <a:r>
              <a:rPr lang="en-US" sz="6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 every active process.</a:t>
            </a:r>
            <a:endParaRPr lang="en-US" sz="650" dirty="0"/>
          </a:p>
        </p:txBody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6119" y="2039094"/>
            <a:ext cx="8151763" cy="500062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609823" y="2210991"/>
            <a:ext cx="125016" cy="1562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</a:t>
            </a:r>
            <a:endParaRPr lang="en-US" sz="950" dirty="0"/>
          </a:p>
        </p:txBody>
      </p:sp>
      <p:sp>
        <p:nvSpPr>
          <p:cNvPr id="14" name="Text 9"/>
          <p:cNvSpPr/>
          <p:nvPr/>
        </p:nvSpPr>
        <p:spPr>
          <a:xfrm>
            <a:off x="894978" y="2131963"/>
            <a:ext cx="7660035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Extended Process Info</a:t>
            </a:r>
            <a:endParaRPr lang="en-US" sz="800" dirty="0"/>
          </a:p>
        </p:txBody>
      </p:sp>
      <p:sp>
        <p:nvSpPr>
          <p:cNvPr id="15" name="Text 10"/>
          <p:cNvSpPr/>
          <p:nvPr/>
        </p:nvSpPr>
        <p:spPr>
          <a:xfrm>
            <a:off x="894978" y="2295748"/>
            <a:ext cx="7660035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6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Show process </a:t>
            </a:r>
            <a:pPr algn="l" indent="0" marL="0">
              <a:lnSpc>
                <a:spcPct val="111000"/>
              </a:lnSpc>
              <a:buNone/>
            </a:pPr>
            <a:r>
              <a:rPr lang="en-US" sz="65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state, priority, and relevant system information</a:t>
            </a:r>
            <a:pPr algn="l" indent="0" marL="0">
              <a:lnSpc>
                <a:spcPct val="111000"/>
              </a:lnSpc>
              <a:buNone/>
            </a:pPr>
            <a:r>
              <a:rPr lang="en-US" sz="6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sourced from the /proc filesystem.</a:t>
            </a:r>
            <a:endParaRPr lang="en-US" sz="65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2595116"/>
            <a:ext cx="8151763" cy="500062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09823" y="2767013"/>
            <a:ext cx="125016" cy="1562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4</a:t>
            </a:r>
            <a:endParaRPr lang="en-US" sz="950" dirty="0"/>
          </a:p>
        </p:txBody>
      </p:sp>
      <p:sp>
        <p:nvSpPr>
          <p:cNvPr id="18" name="Text 12"/>
          <p:cNvSpPr/>
          <p:nvPr/>
        </p:nvSpPr>
        <p:spPr>
          <a:xfrm>
            <a:off x="894978" y="2687985"/>
            <a:ext cx="7660035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Search &amp; Sort</a:t>
            </a:r>
            <a:endParaRPr lang="en-US" sz="800" dirty="0"/>
          </a:p>
        </p:txBody>
      </p:sp>
      <p:sp>
        <p:nvSpPr>
          <p:cNvPr id="19" name="Text 13"/>
          <p:cNvSpPr/>
          <p:nvPr/>
        </p:nvSpPr>
        <p:spPr>
          <a:xfrm>
            <a:off x="894978" y="2851770"/>
            <a:ext cx="7660035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6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 process </a:t>
            </a:r>
            <a:pPr algn="l" indent="0" marL="0">
              <a:lnSpc>
                <a:spcPct val="111000"/>
              </a:lnSpc>
              <a:buNone/>
            </a:pPr>
            <a:r>
              <a:rPr lang="en-US" sz="65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search by name/PID</a:t>
            </a:r>
            <a:pPr algn="l" indent="0" marL="0">
              <a:lnSpc>
                <a:spcPct val="111000"/>
              </a:lnSpc>
              <a:buNone/>
            </a:pPr>
            <a:r>
              <a:rPr lang="en-US" sz="6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multi-column sorting for rapid process identification.</a:t>
            </a:r>
            <a:endParaRPr lang="en-US" sz="650" dirty="0"/>
          </a:p>
        </p:txBody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96119" y="3151138"/>
            <a:ext cx="8151763" cy="500062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609823" y="3323034"/>
            <a:ext cx="125016" cy="1562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5</a:t>
            </a:r>
            <a:endParaRPr lang="en-US" sz="950" dirty="0"/>
          </a:p>
        </p:txBody>
      </p:sp>
      <p:sp>
        <p:nvSpPr>
          <p:cNvPr id="22" name="Text 15"/>
          <p:cNvSpPr/>
          <p:nvPr/>
        </p:nvSpPr>
        <p:spPr>
          <a:xfrm>
            <a:off x="894978" y="3244007"/>
            <a:ext cx="7660035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Process Management</a:t>
            </a:r>
            <a:endParaRPr lang="en-US" sz="800" dirty="0"/>
          </a:p>
        </p:txBody>
      </p:sp>
      <p:sp>
        <p:nvSpPr>
          <p:cNvPr id="23" name="Text 16"/>
          <p:cNvSpPr/>
          <p:nvPr/>
        </p:nvSpPr>
        <p:spPr>
          <a:xfrm>
            <a:off x="894978" y="3407792"/>
            <a:ext cx="7660035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6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Provide </a:t>
            </a:r>
            <a:pPr algn="l" indent="0" marL="0">
              <a:lnSpc>
                <a:spcPct val="111000"/>
              </a:lnSpc>
              <a:buNone/>
            </a:pPr>
            <a:r>
              <a:rPr lang="en-US" sz="65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termination and signal handling</a:t>
            </a:r>
            <a:pPr algn="l" indent="0" marL="0">
              <a:lnSpc>
                <a:spcPct val="111000"/>
              </a:lnSpc>
              <a:buNone/>
            </a:pPr>
            <a:r>
              <a:rPr lang="en-US" sz="6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operations directly from the monitoring interface.</a:t>
            </a:r>
            <a:endParaRPr lang="en-US" sz="650" dirty="0"/>
          </a:p>
        </p:txBody>
      </p:sp>
      <p:pic>
        <p:nvPicPr>
          <p:cNvPr id="24" name="Image 5" descr="preencoded.png">    </p:cNvPr>
          <p:cNvPicPr>
            <a:picLocks noChangeAspect="1"/>
          </p:cNvPicPr>
          <p:nvPr/>
        </p:nvPicPr>
        <p:blipFill>
          <a:blip r:embed="rId11"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496119" y="3707160"/>
            <a:ext cx="8151763" cy="500062"/>
          </a:xfrm>
          <a:prstGeom prst="rect">
            <a:avLst/>
          </a:prstGeom>
        </p:spPr>
      </p:pic>
      <p:sp>
        <p:nvSpPr>
          <p:cNvPr id="25" name="Text 17"/>
          <p:cNvSpPr/>
          <p:nvPr/>
        </p:nvSpPr>
        <p:spPr>
          <a:xfrm>
            <a:off x="609823" y="3879056"/>
            <a:ext cx="125016" cy="1562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6</a:t>
            </a:r>
            <a:endParaRPr lang="en-US" sz="950" dirty="0"/>
          </a:p>
        </p:txBody>
      </p:sp>
      <p:sp>
        <p:nvSpPr>
          <p:cNvPr id="26" name="Text 18"/>
          <p:cNvSpPr/>
          <p:nvPr/>
        </p:nvSpPr>
        <p:spPr>
          <a:xfrm>
            <a:off x="894978" y="3800029"/>
            <a:ext cx="7660035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Systems Programming Demo</a:t>
            </a:r>
            <a:endParaRPr lang="en-US" sz="800" dirty="0"/>
          </a:p>
        </p:txBody>
      </p:sp>
      <p:sp>
        <p:nvSpPr>
          <p:cNvPr id="27" name="Text 19"/>
          <p:cNvSpPr/>
          <p:nvPr/>
        </p:nvSpPr>
        <p:spPr>
          <a:xfrm>
            <a:off x="894978" y="3963814"/>
            <a:ext cx="7660035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6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Demonstrate Linux </a:t>
            </a:r>
            <a:pPr algn="l" indent="0" marL="0">
              <a:lnSpc>
                <a:spcPct val="111000"/>
              </a:lnSpc>
              <a:buNone/>
            </a:pPr>
            <a:r>
              <a:rPr lang="en-US" sz="65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system programming and process-control concepts</a:t>
            </a:r>
            <a:pPr algn="l" indent="0" marL="0">
              <a:lnSpc>
                <a:spcPct val="111000"/>
              </a:lnSpc>
              <a:buNone/>
            </a:pPr>
            <a:r>
              <a:rPr lang="en-US" sz="6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using standard C APIs.</a:t>
            </a:r>
            <a:endParaRPr lang="en-US" sz="650" dirty="0"/>
          </a:p>
        </p:txBody>
      </p:sp>
      <p:pic>
        <p:nvPicPr>
          <p:cNvPr id="28" name="Image 6" descr="preencoded.png">    </p:cNvPr>
          <p:cNvPicPr>
            <a:picLocks noChangeAspect="1"/>
          </p:cNvPicPr>
          <p:nvPr/>
        </p:nvPicPr>
        <p:blipFill>
          <a:blip r:embed="rId13"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496119" y="4263182"/>
            <a:ext cx="8151763" cy="500062"/>
          </a:xfrm>
          <a:prstGeom prst="rect">
            <a:avLst/>
          </a:prstGeom>
        </p:spPr>
      </p:pic>
      <p:sp>
        <p:nvSpPr>
          <p:cNvPr id="29" name="Text 20"/>
          <p:cNvSpPr/>
          <p:nvPr/>
        </p:nvSpPr>
        <p:spPr>
          <a:xfrm>
            <a:off x="609823" y="4435078"/>
            <a:ext cx="125016" cy="15627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7</a:t>
            </a:r>
            <a:endParaRPr lang="en-US" sz="950" dirty="0"/>
          </a:p>
        </p:txBody>
      </p:sp>
      <p:sp>
        <p:nvSpPr>
          <p:cNvPr id="30" name="Text 21"/>
          <p:cNvSpPr/>
          <p:nvPr/>
        </p:nvSpPr>
        <p:spPr>
          <a:xfrm>
            <a:off x="894978" y="4356050"/>
            <a:ext cx="7660035" cy="1302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Efficient CLI Tool</a:t>
            </a:r>
            <a:endParaRPr lang="en-US" sz="800" dirty="0"/>
          </a:p>
        </p:txBody>
      </p:sp>
      <p:sp>
        <p:nvSpPr>
          <p:cNvPr id="31" name="Text 22"/>
          <p:cNvSpPr/>
          <p:nvPr/>
        </p:nvSpPr>
        <p:spPr>
          <a:xfrm>
            <a:off x="894978" y="4519836"/>
            <a:ext cx="7660035" cy="1114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1000"/>
              </a:lnSpc>
              <a:buNone/>
            </a:pPr>
            <a:r>
              <a:rPr lang="en-US" sz="6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Deliver a </a:t>
            </a:r>
            <a:pPr algn="l" indent="0" marL="0">
              <a:lnSpc>
                <a:spcPct val="111000"/>
              </a:lnSpc>
              <a:buNone/>
            </a:pPr>
            <a:r>
              <a:rPr lang="en-US" sz="65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simple, efficient command-line tool</a:t>
            </a:r>
            <a:pPr algn="l" indent="0" marL="0">
              <a:lnSpc>
                <a:spcPct val="111000"/>
              </a:lnSpc>
              <a:buNone/>
            </a:pPr>
            <a:r>
              <a:rPr lang="en-US" sz="6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with minimal overhead and clean terminal output.</a:t>
            </a:r>
            <a:endParaRPr lang="en-US" sz="6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99678"/>
            <a:ext cx="8151763" cy="3573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Technology Stack</a:t>
            </a:r>
            <a:endParaRPr lang="en-US" sz="2250" dirty="0"/>
          </a:p>
        </p:txBody>
      </p:sp>
      <p:sp>
        <p:nvSpPr>
          <p:cNvPr id="3" name="Text 1"/>
          <p:cNvSpPr/>
          <p:nvPr/>
        </p:nvSpPr>
        <p:spPr>
          <a:xfrm>
            <a:off x="496119" y="967829"/>
            <a:ext cx="8608963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entire toolchain is open-source and Linux-native, ensuring portability and alignment with systems programming best practices.</a:t>
            </a:r>
            <a:endParaRPr lang="en-US" sz="900" dirty="0"/>
          </a:p>
        </p:txBody>
      </p:sp>
      <p:sp>
        <p:nvSpPr>
          <p:cNvPr id="4" name="Shape 2"/>
          <p:cNvSpPr/>
          <p:nvPr/>
        </p:nvSpPr>
        <p:spPr>
          <a:xfrm>
            <a:off x="496119" y="1380753"/>
            <a:ext cx="1915492" cy="688479"/>
          </a:xfrm>
          <a:prstGeom prst="roundRect">
            <a:avLst>
              <a:gd name="adj" fmla="val 2491"/>
            </a:avLst>
          </a:prstGeom>
          <a:solidFill>
            <a:srgbClr val="3E3E3E"/>
          </a:solidFill>
          <a:ln/>
        </p:spPr>
      </p:sp>
      <p:sp>
        <p:nvSpPr>
          <p:cNvPr id="5" name="Text 3"/>
          <p:cNvSpPr/>
          <p:nvPr/>
        </p:nvSpPr>
        <p:spPr>
          <a:xfrm>
            <a:off x="610419" y="1495053"/>
            <a:ext cx="1686892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Language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10419" y="1779091"/>
            <a:ext cx="1686892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C</a:t>
            </a:r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Systems Programming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2516981" y="1380753"/>
            <a:ext cx="1915567" cy="688479"/>
          </a:xfrm>
          <a:prstGeom prst="roundRect">
            <a:avLst>
              <a:gd name="adj" fmla="val 2491"/>
            </a:avLst>
          </a:prstGeom>
          <a:solidFill>
            <a:srgbClr val="3E3E3E"/>
          </a:solidFill>
          <a:ln/>
        </p:spPr>
      </p:sp>
      <p:sp>
        <p:nvSpPr>
          <p:cNvPr id="8" name="Text 6"/>
          <p:cNvSpPr/>
          <p:nvPr/>
        </p:nvSpPr>
        <p:spPr>
          <a:xfrm>
            <a:off x="2631281" y="1495053"/>
            <a:ext cx="1686967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OS Platform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631281" y="1779091"/>
            <a:ext cx="1686967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Linux</a:t>
            </a:r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/ Ubuntu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496119" y="2174602"/>
            <a:ext cx="1915492" cy="688479"/>
          </a:xfrm>
          <a:prstGeom prst="roundRect">
            <a:avLst>
              <a:gd name="adj" fmla="val 2491"/>
            </a:avLst>
          </a:prstGeom>
          <a:solidFill>
            <a:srgbClr val="3E3E3E"/>
          </a:solidFill>
          <a:ln/>
        </p:spPr>
      </p:sp>
      <p:sp>
        <p:nvSpPr>
          <p:cNvPr id="11" name="Text 9"/>
          <p:cNvSpPr/>
          <p:nvPr/>
        </p:nvSpPr>
        <p:spPr>
          <a:xfrm>
            <a:off x="610419" y="2288902"/>
            <a:ext cx="1686892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Compiler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0419" y="2572941"/>
            <a:ext cx="1686892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GCC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516981" y="2174602"/>
            <a:ext cx="1915567" cy="688479"/>
          </a:xfrm>
          <a:prstGeom prst="roundRect">
            <a:avLst>
              <a:gd name="adj" fmla="val 2491"/>
            </a:avLst>
          </a:prstGeom>
          <a:solidFill>
            <a:srgbClr val="3E3E3E"/>
          </a:solidFill>
          <a:ln/>
        </p:spPr>
      </p:sp>
      <p:sp>
        <p:nvSpPr>
          <p:cNvPr id="14" name="Text 12"/>
          <p:cNvSpPr/>
          <p:nvPr/>
        </p:nvSpPr>
        <p:spPr>
          <a:xfrm>
            <a:off x="2631281" y="2288902"/>
            <a:ext cx="1686967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Build Tool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31281" y="2572941"/>
            <a:ext cx="1686967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Makefile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96119" y="3010198"/>
            <a:ext cx="3936429" cy="14288"/>
          </a:xfrm>
          <a:prstGeom prst="roundRect">
            <a:avLst>
              <a:gd name="adj" fmla="val 49998"/>
            </a:avLst>
          </a:prstGeom>
          <a:solidFill>
            <a:srgbClr val="BFBFBF">
              <a:alpha val="50000"/>
            </a:srgbClr>
          </a:solidFill>
          <a:ln/>
        </p:spPr>
      </p:sp>
      <p:sp>
        <p:nvSpPr>
          <p:cNvPr id="17" name="Shape 15"/>
          <p:cNvSpPr/>
          <p:nvPr/>
        </p:nvSpPr>
        <p:spPr>
          <a:xfrm>
            <a:off x="496119" y="3171602"/>
            <a:ext cx="1915492" cy="688479"/>
          </a:xfrm>
          <a:prstGeom prst="roundRect">
            <a:avLst>
              <a:gd name="adj" fmla="val 2491"/>
            </a:avLst>
          </a:prstGeom>
          <a:solidFill>
            <a:srgbClr val="3E3E3E"/>
          </a:solidFill>
          <a:ln/>
        </p:spPr>
      </p:sp>
      <p:sp>
        <p:nvSpPr>
          <p:cNvPr id="18" name="Text 16"/>
          <p:cNvSpPr/>
          <p:nvPr/>
        </p:nvSpPr>
        <p:spPr>
          <a:xfrm>
            <a:off x="610419" y="3285902"/>
            <a:ext cx="1686892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Version Control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10419" y="3569940"/>
            <a:ext cx="1686892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Git</a:t>
            </a:r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&amp; GitHub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516981" y="3171602"/>
            <a:ext cx="1915567" cy="688479"/>
          </a:xfrm>
          <a:prstGeom prst="roundRect">
            <a:avLst>
              <a:gd name="adj" fmla="val 2491"/>
            </a:avLst>
          </a:prstGeom>
          <a:solidFill>
            <a:srgbClr val="3E3E3E"/>
          </a:solidFill>
          <a:ln/>
        </p:spPr>
      </p:sp>
      <p:sp>
        <p:nvSpPr>
          <p:cNvPr id="21" name="Text 19"/>
          <p:cNvSpPr/>
          <p:nvPr/>
        </p:nvSpPr>
        <p:spPr>
          <a:xfrm>
            <a:off x="2631281" y="3285902"/>
            <a:ext cx="1686967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Editors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631281" y="3569940"/>
            <a:ext cx="1686967" cy="17584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VS Code / Nano / Vim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33913" y="1262211"/>
            <a:ext cx="4101033" cy="3481611"/>
          </a:xfrm>
          <a:prstGeom prst="roundRect">
            <a:avLst>
              <a:gd name="adj" fmla="val 493"/>
            </a:avLst>
          </a:prstGeom>
          <a:solidFill>
            <a:srgbClr val="1B4965"/>
          </a:solidFill>
          <a:ln/>
        </p:spPr>
      </p:sp>
      <p:sp>
        <p:nvSpPr>
          <p:cNvPr id="24" name="Text 22"/>
          <p:cNvSpPr/>
          <p:nvPr/>
        </p:nvSpPr>
        <p:spPr>
          <a:xfrm>
            <a:off x="4748213" y="1367582"/>
            <a:ext cx="3872433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🗂️</a:t>
            </a:r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/proc Filesystem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48213" y="1651620"/>
            <a:ext cx="3872433" cy="52752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</a:t>
            </a:r>
            <a:pPr algn="l" indent="0" marL="0">
              <a:lnSpc>
                <a:spcPct val="128000"/>
              </a:lnSpc>
              <a:buNone/>
            </a:pPr>
            <a:r>
              <a:rPr lang="en-US" sz="900" b="1" dirty="0">
                <a:solidFill>
                  <a:srgbClr val="FF6B35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/proc filesystem</a:t>
            </a:r>
            <a:pPr algn="l" indent="0" marL="0">
              <a:lnSpc>
                <a:spcPct val="128000"/>
              </a:lnSpc>
              <a:buNone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is a virtual filesystem maintained by the Linux kernel that exposes real-time process information as readable files — no elevated privileges required.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48213" y="2274019"/>
            <a:ext cx="3872433" cy="813867"/>
          </a:xfrm>
          <a:prstGeom prst="rect">
            <a:avLst/>
          </a:prstGeom>
          <a:noFill/>
          <a:ln/>
        </p:spPr>
        <p:txBody>
          <a:bodyPr wrap="square" lIns="0" tIns="45742" rIns="0" bIns="0" rtlCol="0" anchor="t">
            <a:normAutofit/>
          </a:bodyPr>
          <a:lstStyle/>
          <a:p>
            <a:pPr algn="l" marL="182880" indent="-182880">
              <a:lnSpc>
                <a:spcPct val="128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highlight>
                  <a:srgbClr val="28567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/proc/[PID]/stat</a:t>
            </a:r>
            <a:pPr algn="l" marL="182880" indent="-182880">
              <a:lnSpc>
                <a:spcPct val="128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CPU, state, priority</a:t>
            </a:r>
            <a:endParaRPr lang="en-US" sz="900" dirty="0"/>
          </a:p>
          <a:p>
            <a:pPr algn="l" marL="182880" indent="-182880">
              <a:lnSpc>
                <a:spcPct val="128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highlight>
                  <a:srgbClr val="28567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/proc/[PID]/status</a:t>
            </a:r>
            <a:pPr algn="l" marL="182880" indent="-182880">
              <a:lnSpc>
                <a:spcPct val="128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memory, UID, name</a:t>
            </a:r>
            <a:endParaRPr lang="en-US" sz="900" dirty="0"/>
          </a:p>
          <a:p>
            <a:pPr algn="l" marL="182880" indent="-182880">
              <a:lnSpc>
                <a:spcPct val="128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highlight>
                  <a:srgbClr val="28567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/proc/[PID]/cmdline</a:t>
            </a:r>
            <a:pPr algn="l" marL="182880" indent="-182880">
              <a:lnSpc>
                <a:spcPct val="128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full command string</a:t>
            </a:r>
            <a:endParaRPr lang="en-US" sz="900" dirty="0"/>
          </a:p>
          <a:p>
            <a:pPr algn="l" marL="182880" indent="-182880">
              <a:lnSpc>
                <a:spcPct val="128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highlight>
                  <a:srgbClr val="28567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/proc/meminfo</a:t>
            </a:r>
            <a:pPr algn="l" marL="182880" indent="-182880">
              <a:lnSpc>
                <a:spcPct val="128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system memory totals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748213" y="3235003"/>
            <a:ext cx="3872433" cy="14288"/>
          </a:xfrm>
          <a:prstGeom prst="roundRect">
            <a:avLst>
              <a:gd name="adj" fmla="val 49998"/>
            </a:avLst>
          </a:prstGeom>
          <a:solidFill>
            <a:srgbClr val="FFFFFF">
              <a:alpha val="50000"/>
            </a:srgbClr>
          </a:solidFill>
          <a:ln/>
        </p:spPr>
      </p:sp>
      <p:sp>
        <p:nvSpPr>
          <p:cNvPr id="28" name="Text 26"/>
          <p:cNvSpPr/>
          <p:nvPr/>
        </p:nvSpPr>
        <p:spPr>
          <a:xfrm>
            <a:off x="4748213" y="3396407"/>
            <a:ext cx="3872433" cy="178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Twemoji Mozilla" pitchFamily="34" charset="0"/>
                <a:ea typeface="Twemoji Mozilla" pitchFamily="34" charset="-122"/>
                <a:cs typeface="Twemoji Mozilla" pitchFamily="34" charset="-120"/>
              </a:rPr>
              <a:t>⚙️</a:t>
            </a:r>
            <a:pPr algn="l" indent="0" marL="0">
              <a:lnSpc>
                <a:spcPct val="104000"/>
              </a:lnSpc>
              <a:buNone/>
            </a:pPr>
            <a:r>
              <a:rPr lang="en-US" sz="11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 Key System Calls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748213" y="3680445"/>
            <a:ext cx="3872433" cy="1026542"/>
          </a:xfrm>
          <a:prstGeom prst="rect">
            <a:avLst/>
          </a:prstGeom>
          <a:noFill/>
          <a:ln/>
        </p:spPr>
        <p:txBody>
          <a:bodyPr wrap="square" lIns="0" tIns="45742" rIns="0" bIns="0" rtlCol="0" anchor="t">
            <a:normAutofit/>
          </a:bodyPr>
          <a:lstStyle/>
          <a:p>
            <a:pPr algn="l" marL="182880" indent="-182880">
              <a:lnSpc>
                <a:spcPct val="128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highlight>
                  <a:srgbClr val="28567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fork()</a:t>
            </a:r>
            <a:pPr algn="l" marL="182880" indent="-182880">
              <a:lnSpc>
                <a:spcPct val="128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process creation</a:t>
            </a:r>
            <a:endParaRPr lang="en-US" sz="900" dirty="0"/>
          </a:p>
          <a:p>
            <a:pPr algn="l" marL="182880" indent="-182880">
              <a:lnSpc>
                <a:spcPct val="128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highlight>
                  <a:srgbClr val="28567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exec()</a:t>
            </a:r>
            <a:pPr algn="l" marL="182880" indent="-182880">
              <a:lnSpc>
                <a:spcPct val="128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program execution</a:t>
            </a:r>
            <a:endParaRPr lang="en-US" sz="900" dirty="0"/>
          </a:p>
          <a:p>
            <a:pPr algn="l" marL="182880" indent="-182880">
              <a:lnSpc>
                <a:spcPct val="128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highlight>
                  <a:srgbClr val="28567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wait()</a:t>
            </a:r>
            <a:pPr algn="l" marL="182880" indent="-182880">
              <a:lnSpc>
                <a:spcPct val="128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process synchronization</a:t>
            </a:r>
            <a:endParaRPr lang="en-US" sz="900" dirty="0"/>
          </a:p>
          <a:p>
            <a:pPr algn="l" marL="182880" indent="-182880">
              <a:lnSpc>
                <a:spcPct val="128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highlight>
                  <a:srgbClr val="28567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kill()</a:t>
            </a:r>
            <a:pPr algn="l" marL="182880" indent="-182880">
              <a:lnSpc>
                <a:spcPct val="128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signal dispatch</a:t>
            </a:r>
            <a:endParaRPr lang="en-US" sz="900" dirty="0"/>
          </a:p>
          <a:p>
            <a:pPr algn="l" marL="182880" indent="-182880">
              <a:lnSpc>
                <a:spcPct val="128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highlight>
                  <a:srgbClr val="28567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getpid()</a:t>
            </a:r>
            <a:pPr algn="l" marL="182880" indent="-182880">
              <a:lnSpc>
                <a:spcPct val="128000"/>
              </a:lnSpc>
              <a:buSzPct val="100000"/>
              <a:buChar char="•"/>
            </a:pPr>
            <a:r>
              <a:rPr lang="en-US" sz="9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process identification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385465"/>
            <a:ext cx="8151763" cy="38152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Expected Outcome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496119" y="1007343"/>
            <a:ext cx="8151763" cy="3876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Linux Process Explorer will deliver a </a:t>
            </a:r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FF6B35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fully documented, tested, and deployable open-source tool</a:t>
            </a:r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that serves both as a practical monitoring utility and a comprehensive demonstration of Linux system programming principles.</a:t>
            </a:r>
            <a:endParaRPr lang="en-US" sz="95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96119" y="1530251"/>
            <a:ext cx="305246" cy="305246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496119" y="1985739"/>
            <a:ext cx="2617068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Functional Tool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496119" y="2248570"/>
            <a:ext cx="2617068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 Linux-based process monitoring application delivering </a:t>
            </a:r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real-time process information and resource usage display</a:t>
            </a:r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in a clean terminal interface with live refresh.</a:t>
            </a:r>
            <a:endParaRPr lang="en-US" sz="95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263429" y="1530251"/>
            <a:ext cx="305246" cy="305246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3263429" y="1985739"/>
            <a:ext cx="2617068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User Capabilities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263429" y="2248570"/>
            <a:ext cx="2617068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Search, sort, monitor, and manage</a:t>
            </a:r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processes through an intuitive command-line interface — no GUI dependencies, no elevated privileges.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030739" y="1530251"/>
            <a:ext cx="305246" cy="305246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6030739" y="1985739"/>
            <a:ext cx="2617143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Technical Demonstration</a:t>
            </a:r>
            <a:endParaRPr lang="en-US" sz="1200" dirty="0"/>
          </a:p>
        </p:txBody>
      </p:sp>
      <p:sp>
        <p:nvSpPr>
          <p:cNvPr id="12" name="Text 7"/>
          <p:cNvSpPr/>
          <p:nvPr/>
        </p:nvSpPr>
        <p:spPr>
          <a:xfrm>
            <a:off x="6030739" y="2248570"/>
            <a:ext cx="2617143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Practical application of </a:t>
            </a:r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Linux system calls, process control, file handling,</a:t>
            </a:r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system programming concepts — directly applicable to OS coursework.</a:t>
            </a:r>
            <a:endParaRPr lang="en-US" sz="95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6119" y="3264322"/>
            <a:ext cx="305246" cy="305246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496119" y="3719810"/>
            <a:ext cx="2617068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Performance</a:t>
            </a:r>
            <a:endParaRPr lang="en-US" sz="1200" dirty="0"/>
          </a:p>
        </p:txBody>
      </p:sp>
      <p:sp>
        <p:nvSpPr>
          <p:cNvPr id="15" name="Text 9"/>
          <p:cNvSpPr/>
          <p:nvPr/>
        </p:nvSpPr>
        <p:spPr>
          <a:xfrm>
            <a:off x="496119" y="3982641"/>
            <a:ext cx="2617068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Lightweight and efficient</a:t>
            </a:r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monitoring with minimal system overhead — designed to observe processes without itself becoming a resource burden.</a:t>
            </a:r>
            <a:endParaRPr lang="en-US" sz="950" dirty="0"/>
          </a:p>
        </p:txBody>
      </p:sp>
      <p:pic>
        <p:nvPicPr>
          <p:cNvPr id="1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263429" y="3264322"/>
            <a:ext cx="305246" cy="305246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3263429" y="3719810"/>
            <a:ext cx="2617068" cy="19072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Deliverable</a:t>
            </a:r>
            <a:endParaRPr lang="en-US" sz="1200" dirty="0"/>
          </a:p>
        </p:txBody>
      </p:sp>
      <p:sp>
        <p:nvSpPr>
          <p:cNvPr id="18" name="Text 11"/>
          <p:cNvSpPr/>
          <p:nvPr/>
        </p:nvSpPr>
        <p:spPr>
          <a:xfrm>
            <a:off x="3263429" y="3982641"/>
            <a:ext cx="2617068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Fully </a:t>
            </a:r>
            <a:pPr algn="l" indent="0" marL="0">
              <a:lnSpc>
                <a:spcPct val="132000"/>
              </a:lnSpc>
              <a:buNone/>
            </a:pPr>
            <a:r>
              <a:rPr lang="en-US" sz="950" b="1" dirty="0">
                <a:solidFill>
                  <a:srgbClr val="BFBFBF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documented, tested, and deployable</a:t>
            </a:r>
            <a:pPr algn="l" indent="0" marL="0">
              <a:lnSpc>
                <a:spcPct val="132000"/>
              </a:lnSpc>
              <a:buNone/>
            </a:pPr>
            <a:r>
              <a:rPr lang="en-US" sz="95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open-source tool with source code, Makefile, README, and usage documentation hosted on GitHub.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65162"/>
            <a:ext cx="8151763" cy="27853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Project Architecture</a:t>
            </a:r>
            <a:endParaRPr lang="en-US" sz="1750" dirty="0"/>
          </a:p>
        </p:txBody>
      </p:sp>
      <p:sp>
        <p:nvSpPr>
          <p:cNvPr id="3" name="Text 1"/>
          <p:cNvSpPr/>
          <p:nvPr/>
        </p:nvSpPr>
        <p:spPr>
          <a:xfrm>
            <a:off x="496119" y="871835"/>
            <a:ext cx="8608963" cy="122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The Linux Process Explorer is structured around </a:t>
            </a:r>
            <a:pPr algn="l" indent="0" marL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6B35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seven core modules</a:t>
            </a:r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each encapsulating a distinct responsibility — from raw kernel data retrieval to terminal rendering and user interaction.</a:t>
            </a:r>
            <a:endParaRPr lang="en-US" sz="700" dirty="0"/>
          </a:p>
        </p:txBody>
      </p:sp>
      <p:sp>
        <p:nvSpPr>
          <p:cNvPr id="4" name="Text 2"/>
          <p:cNvSpPr/>
          <p:nvPr/>
        </p:nvSpPr>
        <p:spPr>
          <a:xfrm>
            <a:off x="496119" y="1130498"/>
            <a:ext cx="3967163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Core Modules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496119" y="1341834"/>
            <a:ext cx="200546" cy="200546"/>
          </a:xfrm>
          <a:prstGeom prst="roundRect">
            <a:avLst>
              <a:gd name="adj" fmla="val 6669"/>
            </a:avLst>
          </a:prstGeom>
          <a:solidFill>
            <a:srgbClr val="3E3E3E"/>
          </a:solidFill>
          <a:ln/>
        </p:spPr>
      </p:sp>
      <p:sp>
        <p:nvSpPr>
          <p:cNvPr id="6" name="Text 4"/>
          <p:cNvSpPr/>
          <p:nvPr/>
        </p:nvSpPr>
        <p:spPr>
          <a:xfrm>
            <a:off x="529493" y="1358503"/>
            <a:ext cx="133722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60735" y="1372419"/>
            <a:ext cx="370254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User Interface / Command Line</a:t>
            </a:r>
            <a:endParaRPr lang="en-US" sz="850" dirty="0"/>
          </a:p>
        </p:txBody>
      </p:sp>
      <p:sp>
        <p:nvSpPr>
          <p:cNvPr id="8" name="Text 6"/>
          <p:cNvSpPr/>
          <p:nvPr/>
        </p:nvSpPr>
        <p:spPr>
          <a:xfrm>
            <a:off x="760735" y="1575792"/>
            <a:ext cx="3702546" cy="122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Handles user input, keyboard commands, and interactive controls.</a:t>
            </a:r>
            <a:endParaRPr lang="en-US" sz="700" dirty="0"/>
          </a:p>
        </p:txBody>
      </p:sp>
      <p:sp>
        <p:nvSpPr>
          <p:cNvPr id="9" name="Shape 7"/>
          <p:cNvSpPr/>
          <p:nvPr/>
        </p:nvSpPr>
        <p:spPr>
          <a:xfrm>
            <a:off x="496119" y="1826493"/>
            <a:ext cx="200546" cy="200546"/>
          </a:xfrm>
          <a:prstGeom prst="roundRect">
            <a:avLst>
              <a:gd name="adj" fmla="val 6669"/>
            </a:avLst>
          </a:prstGeom>
          <a:solidFill>
            <a:srgbClr val="3E3E3E"/>
          </a:solidFill>
          <a:ln/>
        </p:spPr>
      </p:sp>
      <p:sp>
        <p:nvSpPr>
          <p:cNvPr id="10" name="Text 8"/>
          <p:cNvSpPr/>
          <p:nvPr/>
        </p:nvSpPr>
        <p:spPr>
          <a:xfrm>
            <a:off x="529493" y="1843162"/>
            <a:ext cx="133722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60735" y="1857077"/>
            <a:ext cx="370254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Process Discovery Module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60735" y="2060451"/>
            <a:ext cx="3702546" cy="122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Scans </a:t>
            </a:r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/proc</a:t>
            </a:r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directory to enumerate all active PIDs on the system.</a:t>
            </a:r>
            <a:endParaRPr lang="en-US" sz="700" dirty="0"/>
          </a:p>
        </p:txBody>
      </p:sp>
      <p:sp>
        <p:nvSpPr>
          <p:cNvPr id="13" name="Shape 11"/>
          <p:cNvSpPr/>
          <p:nvPr/>
        </p:nvSpPr>
        <p:spPr>
          <a:xfrm>
            <a:off x="496119" y="2311152"/>
            <a:ext cx="200546" cy="200546"/>
          </a:xfrm>
          <a:prstGeom prst="roundRect">
            <a:avLst>
              <a:gd name="adj" fmla="val 6669"/>
            </a:avLst>
          </a:prstGeom>
          <a:solidFill>
            <a:srgbClr val="3E3E3E"/>
          </a:solidFill>
          <a:ln/>
        </p:spPr>
      </p:sp>
      <p:sp>
        <p:nvSpPr>
          <p:cNvPr id="14" name="Text 12"/>
          <p:cNvSpPr/>
          <p:nvPr/>
        </p:nvSpPr>
        <p:spPr>
          <a:xfrm>
            <a:off x="529493" y="2327821"/>
            <a:ext cx="133722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760735" y="2341736"/>
            <a:ext cx="370254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Process Information Module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760735" y="2545110"/>
            <a:ext cx="3702546" cy="122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Reads </a:t>
            </a:r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/proc/[PID]/stat</a:t>
            </a:r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and </a:t>
            </a:r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/proc/[PID]/status</a:t>
            </a:r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for per-process metadata.</a:t>
            </a:r>
            <a:endParaRPr lang="en-US" sz="700" dirty="0"/>
          </a:p>
        </p:txBody>
      </p:sp>
      <p:sp>
        <p:nvSpPr>
          <p:cNvPr id="17" name="Shape 15"/>
          <p:cNvSpPr/>
          <p:nvPr/>
        </p:nvSpPr>
        <p:spPr>
          <a:xfrm>
            <a:off x="496119" y="2795811"/>
            <a:ext cx="200546" cy="200546"/>
          </a:xfrm>
          <a:prstGeom prst="roundRect">
            <a:avLst>
              <a:gd name="adj" fmla="val 6669"/>
            </a:avLst>
          </a:prstGeom>
          <a:solidFill>
            <a:srgbClr val="3E3E3E"/>
          </a:solidFill>
          <a:ln/>
        </p:spPr>
      </p:sp>
      <p:sp>
        <p:nvSpPr>
          <p:cNvPr id="18" name="Text 16"/>
          <p:cNvSpPr/>
          <p:nvPr/>
        </p:nvSpPr>
        <p:spPr>
          <a:xfrm>
            <a:off x="529493" y="2812479"/>
            <a:ext cx="133722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4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760735" y="2826395"/>
            <a:ext cx="370254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CPU &amp; Memory Monitoring Module</a:t>
            </a:r>
            <a:endParaRPr lang="en-US" sz="850" dirty="0"/>
          </a:p>
        </p:txBody>
      </p:sp>
      <p:sp>
        <p:nvSpPr>
          <p:cNvPr id="20" name="Text 18"/>
          <p:cNvSpPr/>
          <p:nvPr/>
        </p:nvSpPr>
        <p:spPr>
          <a:xfrm>
            <a:off x="760735" y="3029769"/>
            <a:ext cx="3702546" cy="122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Computes real-time CPU percentages and memory consumption across refresh intervals.</a:t>
            </a:r>
            <a:endParaRPr lang="en-US" sz="700" dirty="0"/>
          </a:p>
        </p:txBody>
      </p:sp>
      <p:sp>
        <p:nvSpPr>
          <p:cNvPr id="21" name="Shape 19"/>
          <p:cNvSpPr/>
          <p:nvPr/>
        </p:nvSpPr>
        <p:spPr>
          <a:xfrm>
            <a:off x="496119" y="3280470"/>
            <a:ext cx="200546" cy="200546"/>
          </a:xfrm>
          <a:prstGeom prst="roundRect">
            <a:avLst>
              <a:gd name="adj" fmla="val 6669"/>
            </a:avLst>
          </a:prstGeom>
          <a:solidFill>
            <a:srgbClr val="3E3E3E"/>
          </a:solidFill>
          <a:ln/>
        </p:spPr>
      </p:sp>
      <p:sp>
        <p:nvSpPr>
          <p:cNvPr id="22" name="Text 20"/>
          <p:cNvSpPr/>
          <p:nvPr/>
        </p:nvSpPr>
        <p:spPr>
          <a:xfrm>
            <a:off x="529493" y="3297138"/>
            <a:ext cx="133722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5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60735" y="3311054"/>
            <a:ext cx="370254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Process Search &amp; Sorting Module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60735" y="3514427"/>
            <a:ext cx="3702546" cy="122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Filters processes by name or PID; sorts by CPU, memory, or priority.</a:t>
            </a:r>
            <a:endParaRPr lang="en-US" sz="700" dirty="0"/>
          </a:p>
        </p:txBody>
      </p:sp>
      <p:sp>
        <p:nvSpPr>
          <p:cNvPr id="25" name="Shape 23"/>
          <p:cNvSpPr/>
          <p:nvPr/>
        </p:nvSpPr>
        <p:spPr>
          <a:xfrm>
            <a:off x="496119" y="3765128"/>
            <a:ext cx="200546" cy="200546"/>
          </a:xfrm>
          <a:prstGeom prst="roundRect">
            <a:avLst>
              <a:gd name="adj" fmla="val 6669"/>
            </a:avLst>
          </a:prstGeom>
          <a:solidFill>
            <a:srgbClr val="3E3E3E"/>
          </a:solidFill>
          <a:ln/>
        </p:spPr>
      </p:sp>
      <p:sp>
        <p:nvSpPr>
          <p:cNvPr id="26" name="Text 24"/>
          <p:cNvSpPr/>
          <p:nvPr/>
        </p:nvSpPr>
        <p:spPr>
          <a:xfrm>
            <a:off x="529493" y="3781797"/>
            <a:ext cx="133722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6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760735" y="3795713"/>
            <a:ext cx="370254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Process Management Module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760735" y="3999086"/>
            <a:ext cx="3702546" cy="122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Dispatches signals via </a:t>
            </a:r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kill()</a:t>
            </a:r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— supports termination and standard POSIX signals.</a:t>
            </a:r>
            <a:endParaRPr lang="en-US" sz="700" dirty="0"/>
          </a:p>
        </p:txBody>
      </p:sp>
      <p:sp>
        <p:nvSpPr>
          <p:cNvPr id="29" name="Shape 27"/>
          <p:cNvSpPr/>
          <p:nvPr/>
        </p:nvSpPr>
        <p:spPr>
          <a:xfrm>
            <a:off x="496119" y="4249787"/>
            <a:ext cx="200546" cy="200546"/>
          </a:xfrm>
          <a:prstGeom prst="roundRect">
            <a:avLst>
              <a:gd name="adj" fmla="val 6669"/>
            </a:avLst>
          </a:prstGeom>
          <a:solidFill>
            <a:srgbClr val="3E3E3E"/>
          </a:solidFill>
          <a:ln/>
        </p:spPr>
      </p:sp>
      <p:sp>
        <p:nvSpPr>
          <p:cNvPr id="30" name="Text 28"/>
          <p:cNvSpPr/>
          <p:nvPr/>
        </p:nvSpPr>
        <p:spPr>
          <a:xfrm>
            <a:off x="529493" y="4266456"/>
            <a:ext cx="133722" cy="167134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7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760735" y="4280371"/>
            <a:ext cx="370254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Display &amp; Refresh Module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760735" y="4483745"/>
            <a:ext cx="3702546" cy="12256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Renders formatted output to terminal and manages timed screen refresh cycles.</a:t>
            </a:r>
            <a:endParaRPr lang="en-US" sz="700" dirty="0"/>
          </a:p>
        </p:txBody>
      </p:sp>
      <p:sp>
        <p:nvSpPr>
          <p:cNvPr id="33" name="Shape 31"/>
          <p:cNvSpPr/>
          <p:nvPr/>
        </p:nvSpPr>
        <p:spPr>
          <a:xfrm>
            <a:off x="4621337" y="1066428"/>
            <a:ext cx="4095452" cy="3611910"/>
          </a:xfrm>
          <a:prstGeom prst="roundRect">
            <a:avLst>
              <a:gd name="adj" fmla="val 370"/>
            </a:avLst>
          </a:prstGeom>
          <a:solidFill>
            <a:srgbClr val="004E89"/>
          </a:solidFill>
          <a:ln/>
        </p:spPr>
      </p:sp>
      <p:sp>
        <p:nvSpPr>
          <p:cNvPr id="34" name="Text 32"/>
          <p:cNvSpPr/>
          <p:nvPr/>
        </p:nvSpPr>
        <p:spPr>
          <a:xfrm>
            <a:off x="4710485" y="1130498"/>
            <a:ext cx="3917156" cy="1393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85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Data Flow</a:t>
            </a:r>
            <a:endParaRPr lang="en-US" sz="850" dirty="0"/>
          </a:p>
        </p:txBody>
      </p:sp>
      <p:pic>
        <p:nvPicPr>
          <p:cNvPr id="3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10485" y="1341834"/>
            <a:ext cx="3917156" cy="1689125"/>
          </a:xfrm>
          <a:prstGeom prst="rect">
            <a:avLst/>
          </a:prstGeom>
        </p:spPr>
      </p:pic>
      <p:sp>
        <p:nvSpPr>
          <p:cNvPr id="36" name="Text 33"/>
          <p:cNvSpPr/>
          <p:nvPr/>
        </p:nvSpPr>
        <p:spPr>
          <a:xfrm>
            <a:off x="4974112" y="2710638"/>
            <a:ext cx="888648" cy="111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Info Retrieval</a:t>
            </a:r>
            <a:endParaRPr lang="en-US" sz="650" dirty="0"/>
          </a:p>
        </p:txBody>
      </p:sp>
      <p:sp>
        <p:nvSpPr>
          <p:cNvPr id="37" name="Text 34"/>
          <p:cNvSpPr/>
          <p:nvPr/>
        </p:nvSpPr>
        <p:spPr>
          <a:xfrm>
            <a:off x="4974112" y="2319633"/>
            <a:ext cx="888648" cy="111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/proc Filesystem</a:t>
            </a:r>
            <a:endParaRPr lang="en-US" sz="650" dirty="0"/>
          </a:p>
        </p:txBody>
      </p:sp>
      <p:sp>
        <p:nvSpPr>
          <p:cNvPr id="38" name="Text 35"/>
          <p:cNvSpPr/>
          <p:nvPr/>
        </p:nvSpPr>
        <p:spPr>
          <a:xfrm>
            <a:off x="4974112" y="1932577"/>
            <a:ext cx="888648" cy="111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Process Core</a:t>
            </a:r>
            <a:endParaRPr lang="en-US" sz="650" dirty="0"/>
          </a:p>
        </p:txBody>
      </p:sp>
      <p:sp>
        <p:nvSpPr>
          <p:cNvPr id="39" name="Text 36"/>
          <p:cNvSpPr/>
          <p:nvPr/>
        </p:nvSpPr>
        <p:spPr>
          <a:xfrm>
            <a:off x="4974112" y="1541572"/>
            <a:ext cx="888648" cy="11108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User Input</a:t>
            </a:r>
            <a:endParaRPr lang="en-US" sz="650" dirty="0"/>
          </a:p>
        </p:txBody>
      </p:sp>
      <p:sp>
        <p:nvSpPr>
          <p:cNvPr id="40" name="Text 37"/>
          <p:cNvSpPr/>
          <p:nvPr/>
        </p:nvSpPr>
        <p:spPr>
          <a:xfrm>
            <a:off x="4710485" y="3102992"/>
            <a:ext cx="3917156" cy="3676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Each stage maps directly to one or more core modules. The </a:t>
            </a:r>
            <a:pPr algn="l" indent="0" marL="0">
              <a:lnSpc>
                <a:spcPct val="115000"/>
              </a:lnSpc>
              <a:buNone/>
            </a:pPr>
            <a:r>
              <a:rPr lang="en-US" sz="700" b="1" dirty="0">
                <a:solidFill>
                  <a:srgbClr val="FF6B35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/proc filesystem</a:t>
            </a:r>
            <a:pPr algn="l" indent="0" marL="0">
              <a:lnSpc>
                <a:spcPct val="115000"/>
              </a:lnSpc>
              <a:buNone/>
            </a:pPr>
            <a:r>
              <a:rPr lang="en-US" sz="700" dirty="0">
                <a:solidFill>
                  <a:srgbClr val="FFFFF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serves as the single source of truth — all process metrics are read from kernel-maintained virtual files, ensuring accuracy without requiring superuser access.</a:t>
            </a:r>
            <a:endParaRPr lang="en-US" sz="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00645"/>
            <a:ext cx="8151763" cy="2422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500" dirty="0">
                <a:solidFill>
                  <a:srgbClr val="FEFEFE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Implementation Timeline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496119" y="739825"/>
            <a:ext cx="8608963" cy="10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An </a:t>
            </a:r>
            <a:pPr algn="l" indent="0" marL="0">
              <a:lnSpc>
                <a:spcPct val="108000"/>
              </a:lnSpc>
              <a:buNone/>
            </a:pPr>
            <a:r>
              <a:rPr lang="en-US" sz="600" b="1" dirty="0">
                <a:solidFill>
                  <a:srgbClr val="FF6B35"/>
                </a:solidFill>
                <a:latin typeface="Open Sans Bold" pitchFamily="34" charset="0"/>
                <a:ea typeface="Open Sans Bold" pitchFamily="34" charset="-122"/>
                <a:cs typeface="Open Sans Bold" pitchFamily="34" charset="-120"/>
              </a:rPr>
              <a:t>8-week phased schedule</a:t>
            </a:r>
            <a:pPr algn="l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structures the project from requirement analysis through final presentation, with each week targeting a concrete, testable technical milestone.</a:t>
            </a:r>
            <a:endParaRPr lang="en-US" sz="600" dirty="0"/>
          </a:p>
        </p:txBody>
      </p:sp>
      <p:sp>
        <p:nvSpPr>
          <p:cNvPr id="4" name="Shape 2"/>
          <p:cNvSpPr/>
          <p:nvPr/>
        </p:nvSpPr>
        <p:spPr>
          <a:xfrm>
            <a:off x="4567238" y="895052"/>
            <a:ext cx="9525" cy="3284860"/>
          </a:xfrm>
          <a:prstGeom prst="roundRect">
            <a:avLst>
              <a:gd name="adj" fmla="val 50000"/>
            </a:avLst>
          </a:prstGeom>
          <a:solidFill>
            <a:srgbClr val="575757"/>
          </a:solidFill>
          <a:ln/>
        </p:spPr>
      </p:sp>
      <p:sp>
        <p:nvSpPr>
          <p:cNvPr id="5" name="Shape 3"/>
          <p:cNvSpPr/>
          <p:nvPr/>
        </p:nvSpPr>
        <p:spPr>
          <a:xfrm>
            <a:off x="4261768" y="977503"/>
            <a:ext cx="232544" cy="9525"/>
          </a:xfrm>
          <a:prstGeom prst="roundRect">
            <a:avLst>
              <a:gd name="adj" fmla="val 50000"/>
            </a:avLst>
          </a:prstGeom>
          <a:solidFill>
            <a:srgbClr val="575757"/>
          </a:solidFill>
          <a:ln/>
        </p:spPr>
      </p:sp>
      <p:sp>
        <p:nvSpPr>
          <p:cNvPr id="6" name="Shape 4"/>
          <p:cNvSpPr/>
          <p:nvPr/>
        </p:nvSpPr>
        <p:spPr>
          <a:xfrm>
            <a:off x="4484787" y="895052"/>
            <a:ext cx="174427" cy="174427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7" name="Text 5"/>
          <p:cNvSpPr/>
          <p:nvPr/>
        </p:nvSpPr>
        <p:spPr>
          <a:xfrm>
            <a:off x="4513883" y="909600"/>
            <a:ext cx="116235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1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496119" y="921693"/>
            <a:ext cx="3688259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Week 1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496119" y="1071786"/>
            <a:ext cx="3688259" cy="10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Requirement Analysis &amp; Project Planning</a:t>
            </a:r>
            <a:endParaRPr lang="en-US" sz="600" dirty="0"/>
          </a:p>
        </p:txBody>
      </p:sp>
      <p:sp>
        <p:nvSpPr>
          <p:cNvPr id="10" name="Shape 8"/>
          <p:cNvSpPr/>
          <p:nvPr/>
        </p:nvSpPr>
        <p:spPr>
          <a:xfrm>
            <a:off x="4649688" y="1384474"/>
            <a:ext cx="232544" cy="9525"/>
          </a:xfrm>
          <a:prstGeom prst="roundRect">
            <a:avLst>
              <a:gd name="adj" fmla="val 50000"/>
            </a:avLst>
          </a:prstGeom>
          <a:solidFill>
            <a:srgbClr val="575757"/>
          </a:solidFill>
          <a:ln/>
        </p:spPr>
      </p:sp>
      <p:sp>
        <p:nvSpPr>
          <p:cNvPr id="11" name="Shape 9"/>
          <p:cNvSpPr/>
          <p:nvPr/>
        </p:nvSpPr>
        <p:spPr>
          <a:xfrm>
            <a:off x="4484787" y="1302023"/>
            <a:ext cx="174427" cy="174427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12" name="Text 10"/>
          <p:cNvSpPr/>
          <p:nvPr/>
        </p:nvSpPr>
        <p:spPr>
          <a:xfrm>
            <a:off x="4513883" y="1316571"/>
            <a:ext cx="116235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2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4959623" y="1328663"/>
            <a:ext cx="3688259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Week 2</a:t>
            </a:r>
            <a:endParaRPr lang="en-US" sz="750" dirty="0"/>
          </a:p>
        </p:txBody>
      </p:sp>
      <p:sp>
        <p:nvSpPr>
          <p:cNvPr id="14" name="Text 12"/>
          <p:cNvSpPr/>
          <p:nvPr/>
        </p:nvSpPr>
        <p:spPr>
          <a:xfrm>
            <a:off x="4959623" y="1478756"/>
            <a:ext cx="3688259" cy="10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Study Linux Processes &amp; </a:t>
            </a:r>
            <a:pPr algn="l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/proc</a:t>
            </a:r>
            <a:pPr algn="l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 Filesystem Architecture</a:t>
            </a:r>
            <a:endParaRPr lang="en-US" sz="600" dirty="0"/>
          </a:p>
        </p:txBody>
      </p:sp>
      <p:sp>
        <p:nvSpPr>
          <p:cNvPr id="15" name="Shape 13"/>
          <p:cNvSpPr/>
          <p:nvPr/>
        </p:nvSpPr>
        <p:spPr>
          <a:xfrm>
            <a:off x="4261768" y="1756321"/>
            <a:ext cx="232544" cy="9525"/>
          </a:xfrm>
          <a:prstGeom prst="roundRect">
            <a:avLst>
              <a:gd name="adj" fmla="val 50000"/>
            </a:avLst>
          </a:prstGeom>
          <a:solidFill>
            <a:srgbClr val="575757"/>
          </a:solidFill>
          <a:ln/>
        </p:spPr>
      </p:sp>
      <p:sp>
        <p:nvSpPr>
          <p:cNvPr id="16" name="Shape 14"/>
          <p:cNvSpPr/>
          <p:nvPr/>
        </p:nvSpPr>
        <p:spPr>
          <a:xfrm>
            <a:off x="4484787" y="1673870"/>
            <a:ext cx="174427" cy="174427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17" name="Text 15"/>
          <p:cNvSpPr/>
          <p:nvPr/>
        </p:nvSpPr>
        <p:spPr>
          <a:xfrm>
            <a:off x="4513883" y="1688418"/>
            <a:ext cx="116235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496119" y="1700510"/>
            <a:ext cx="3688259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Week 3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496119" y="1850603"/>
            <a:ext cx="3688259" cy="10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 Process Discovery &amp; Information Retrieval</a:t>
            </a:r>
            <a:endParaRPr lang="en-US" sz="600" dirty="0"/>
          </a:p>
        </p:txBody>
      </p:sp>
      <p:sp>
        <p:nvSpPr>
          <p:cNvPr id="20" name="Shape 18"/>
          <p:cNvSpPr/>
          <p:nvPr/>
        </p:nvSpPr>
        <p:spPr>
          <a:xfrm>
            <a:off x="4649688" y="2128168"/>
            <a:ext cx="232544" cy="9525"/>
          </a:xfrm>
          <a:prstGeom prst="roundRect">
            <a:avLst>
              <a:gd name="adj" fmla="val 50000"/>
            </a:avLst>
          </a:prstGeom>
          <a:solidFill>
            <a:srgbClr val="575757"/>
          </a:solidFill>
          <a:ln/>
        </p:spPr>
      </p:sp>
      <p:sp>
        <p:nvSpPr>
          <p:cNvPr id="21" name="Shape 19"/>
          <p:cNvSpPr/>
          <p:nvPr/>
        </p:nvSpPr>
        <p:spPr>
          <a:xfrm>
            <a:off x="4484787" y="2045717"/>
            <a:ext cx="174427" cy="174427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22" name="Text 20"/>
          <p:cNvSpPr/>
          <p:nvPr/>
        </p:nvSpPr>
        <p:spPr>
          <a:xfrm>
            <a:off x="4513883" y="2060265"/>
            <a:ext cx="116235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4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4959623" y="2072357"/>
            <a:ext cx="3688259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Week 4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4959623" y="2222450"/>
            <a:ext cx="3688259" cy="10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 CPU/Memory Monitoring &amp; Sorting Algorithms</a:t>
            </a:r>
            <a:endParaRPr lang="en-US" sz="600" dirty="0"/>
          </a:p>
        </p:txBody>
      </p:sp>
      <p:sp>
        <p:nvSpPr>
          <p:cNvPr id="25" name="Shape 23"/>
          <p:cNvSpPr/>
          <p:nvPr/>
        </p:nvSpPr>
        <p:spPr>
          <a:xfrm>
            <a:off x="4261768" y="2500015"/>
            <a:ext cx="232544" cy="9525"/>
          </a:xfrm>
          <a:prstGeom prst="roundRect">
            <a:avLst>
              <a:gd name="adj" fmla="val 50000"/>
            </a:avLst>
          </a:prstGeom>
          <a:solidFill>
            <a:srgbClr val="575757"/>
          </a:solidFill>
          <a:ln/>
        </p:spPr>
      </p:sp>
      <p:sp>
        <p:nvSpPr>
          <p:cNvPr id="26" name="Shape 24"/>
          <p:cNvSpPr/>
          <p:nvPr/>
        </p:nvSpPr>
        <p:spPr>
          <a:xfrm>
            <a:off x="4484787" y="2417564"/>
            <a:ext cx="174427" cy="174427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27" name="Text 25"/>
          <p:cNvSpPr/>
          <p:nvPr/>
        </p:nvSpPr>
        <p:spPr>
          <a:xfrm>
            <a:off x="4513883" y="2432112"/>
            <a:ext cx="116235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5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496119" y="2444204"/>
            <a:ext cx="3688259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Week 5</a:t>
            </a:r>
            <a:endParaRPr lang="en-US" sz="750" dirty="0"/>
          </a:p>
        </p:txBody>
      </p:sp>
      <p:sp>
        <p:nvSpPr>
          <p:cNvPr id="29" name="Text 27"/>
          <p:cNvSpPr/>
          <p:nvPr/>
        </p:nvSpPr>
        <p:spPr>
          <a:xfrm>
            <a:off x="496119" y="2594297"/>
            <a:ext cx="3688259" cy="10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Implement Process Management Operations (</a:t>
            </a:r>
            <a:pPr algn="r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BFBFBF"/>
                </a:solidFill>
                <a:highlight>
                  <a:srgbClr val="2C2C2C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kill</a:t>
            </a:r>
            <a:pPr algn="r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, signals)</a:t>
            </a:r>
            <a:endParaRPr lang="en-US" sz="600" dirty="0"/>
          </a:p>
        </p:txBody>
      </p:sp>
      <p:sp>
        <p:nvSpPr>
          <p:cNvPr id="30" name="Shape 28"/>
          <p:cNvSpPr/>
          <p:nvPr/>
        </p:nvSpPr>
        <p:spPr>
          <a:xfrm>
            <a:off x="4649688" y="2871862"/>
            <a:ext cx="232544" cy="9525"/>
          </a:xfrm>
          <a:prstGeom prst="roundRect">
            <a:avLst>
              <a:gd name="adj" fmla="val 50000"/>
            </a:avLst>
          </a:prstGeom>
          <a:solidFill>
            <a:srgbClr val="575757"/>
          </a:solidFill>
          <a:ln/>
        </p:spPr>
      </p:sp>
      <p:sp>
        <p:nvSpPr>
          <p:cNvPr id="31" name="Shape 29"/>
          <p:cNvSpPr/>
          <p:nvPr/>
        </p:nvSpPr>
        <p:spPr>
          <a:xfrm>
            <a:off x="4484787" y="2789411"/>
            <a:ext cx="174427" cy="174427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32" name="Text 30"/>
          <p:cNvSpPr/>
          <p:nvPr/>
        </p:nvSpPr>
        <p:spPr>
          <a:xfrm>
            <a:off x="4513883" y="2803959"/>
            <a:ext cx="116235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6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4959623" y="2816051"/>
            <a:ext cx="3688259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Week 6</a:t>
            </a:r>
            <a:endParaRPr lang="en-US" sz="750" dirty="0"/>
          </a:p>
        </p:txBody>
      </p:sp>
      <p:sp>
        <p:nvSpPr>
          <p:cNvPr id="34" name="Text 32"/>
          <p:cNvSpPr/>
          <p:nvPr/>
        </p:nvSpPr>
        <p:spPr>
          <a:xfrm>
            <a:off x="4959623" y="2966145"/>
            <a:ext cx="3688259" cy="10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Integrate Modules &amp; Build Command-Line Interface</a:t>
            </a:r>
            <a:endParaRPr lang="en-US" sz="600" dirty="0"/>
          </a:p>
        </p:txBody>
      </p:sp>
      <p:sp>
        <p:nvSpPr>
          <p:cNvPr id="35" name="Shape 33"/>
          <p:cNvSpPr/>
          <p:nvPr/>
        </p:nvSpPr>
        <p:spPr>
          <a:xfrm>
            <a:off x="4261768" y="3243709"/>
            <a:ext cx="232544" cy="9525"/>
          </a:xfrm>
          <a:prstGeom prst="roundRect">
            <a:avLst>
              <a:gd name="adj" fmla="val 50000"/>
            </a:avLst>
          </a:prstGeom>
          <a:solidFill>
            <a:srgbClr val="575757"/>
          </a:solidFill>
          <a:ln/>
        </p:spPr>
      </p:sp>
      <p:sp>
        <p:nvSpPr>
          <p:cNvPr id="36" name="Shape 34"/>
          <p:cNvSpPr/>
          <p:nvPr/>
        </p:nvSpPr>
        <p:spPr>
          <a:xfrm>
            <a:off x="4484787" y="3161258"/>
            <a:ext cx="174427" cy="174427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37" name="Text 35"/>
          <p:cNvSpPr/>
          <p:nvPr/>
        </p:nvSpPr>
        <p:spPr>
          <a:xfrm>
            <a:off x="4513883" y="3175806"/>
            <a:ext cx="116235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7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496119" y="3187898"/>
            <a:ext cx="3688259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Week 7</a:t>
            </a:r>
            <a:endParaRPr lang="en-US" sz="750" dirty="0"/>
          </a:p>
        </p:txBody>
      </p:sp>
      <p:sp>
        <p:nvSpPr>
          <p:cNvPr id="39" name="Text 37"/>
          <p:cNvSpPr/>
          <p:nvPr/>
        </p:nvSpPr>
        <p:spPr>
          <a:xfrm>
            <a:off x="496119" y="3337992"/>
            <a:ext cx="3688259" cy="10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Testing, Debugging &amp; Performance Optimization</a:t>
            </a:r>
            <a:endParaRPr lang="en-US" sz="600" dirty="0"/>
          </a:p>
        </p:txBody>
      </p:sp>
      <p:sp>
        <p:nvSpPr>
          <p:cNvPr id="40" name="Shape 38"/>
          <p:cNvSpPr/>
          <p:nvPr/>
        </p:nvSpPr>
        <p:spPr>
          <a:xfrm>
            <a:off x="4649688" y="3615556"/>
            <a:ext cx="232544" cy="9525"/>
          </a:xfrm>
          <a:prstGeom prst="roundRect">
            <a:avLst>
              <a:gd name="adj" fmla="val 50000"/>
            </a:avLst>
          </a:prstGeom>
          <a:solidFill>
            <a:srgbClr val="575757"/>
          </a:solidFill>
          <a:ln/>
        </p:spPr>
      </p:sp>
      <p:sp>
        <p:nvSpPr>
          <p:cNvPr id="41" name="Shape 39"/>
          <p:cNvSpPr/>
          <p:nvPr/>
        </p:nvSpPr>
        <p:spPr>
          <a:xfrm>
            <a:off x="4484787" y="3533105"/>
            <a:ext cx="174427" cy="174427"/>
          </a:xfrm>
          <a:prstGeom prst="roundRect">
            <a:avLst>
              <a:gd name="adj" fmla="val 6667"/>
            </a:avLst>
          </a:prstGeom>
          <a:solidFill>
            <a:srgbClr val="3E3E3E"/>
          </a:solidFill>
          <a:ln/>
        </p:spPr>
      </p:sp>
      <p:sp>
        <p:nvSpPr>
          <p:cNvPr id="42" name="Text 40"/>
          <p:cNvSpPr/>
          <p:nvPr/>
        </p:nvSpPr>
        <p:spPr>
          <a:xfrm>
            <a:off x="4513883" y="3547653"/>
            <a:ext cx="116235" cy="14533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90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8</a:t>
            </a:r>
            <a:endParaRPr lang="en-US" sz="900" dirty="0"/>
          </a:p>
        </p:txBody>
      </p:sp>
      <p:sp>
        <p:nvSpPr>
          <p:cNvPr id="43" name="Text 41"/>
          <p:cNvSpPr/>
          <p:nvPr/>
        </p:nvSpPr>
        <p:spPr>
          <a:xfrm>
            <a:off x="4959623" y="3559746"/>
            <a:ext cx="3688259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Week 8</a:t>
            </a:r>
            <a:endParaRPr lang="en-US" sz="750" dirty="0"/>
          </a:p>
        </p:txBody>
      </p:sp>
      <p:sp>
        <p:nvSpPr>
          <p:cNvPr id="44" name="Text 42"/>
          <p:cNvSpPr/>
          <p:nvPr/>
        </p:nvSpPr>
        <p:spPr>
          <a:xfrm>
            <a:off x="4959623" y="3709839"/>
            <a:ext cx="3688259" cy="10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Documentation, Final Testing &amp; Presentation Preparation</a:t>
            </a:r>
            <a:endParaRPr lang="en-US" sz="600" dirty="0"/>
          </a:p>
        </p:txBody>
      </p:sp>
      <p:sp>
        <p:nvSpPr>
          <p:cNvPr id="45" name="Shape 43"/>
          <p:cNvSpPr/>
          <p:nvPr/>
        </p:nvSpPr>
        <p:spPr>
          <a:xfrm>
            <a:off x="496119" y="4253731"/>
            <a:ext cx="8151763" cy="9525"/>
          </a:xfrm>
          <a:prstGeom prst="roundRect">
            <a:avLst>
              <a:gd name="adj" fmla="val 50000"/>
            </a:avLst>
          </a:prstGeom>
          <a:solidFill>
            <a:srgbClr val="BFBFBF">
              <a:alpha val="5000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496119" y="4337075"/>
            <a:ext cx="2001589" cy="405780"/>
          </a:xfrm>
          <a:prstGeom prst="roundRect">
            <a:avLst>
              <a:gd name="adj" fmla="val 2866"/>
            </a:avLst>
          </a:prstGeom>
          <a:solidFill>
            <a:srgbClr val="3E3E3E"/>
          </a:solidFill>
          <a:ln/>
        </p:spPr>
      </p:sp>
      <p:sp>
        <p:nvSpPr>
          <p:cNvPr id="47" name="Text 45"/>
          <p:cNvSpPr/>
          <p:nvPr/>
        </p:nvSpPr>
        <p:spPr>
          <a:xfrm>
            <a:off x="573584" y="4414540"/>
            <a:ext cx="1846659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Phase 1 — Weeks 1–2</a:t>
            </a:r>
            <a:endParaRPr lang="en-US" sz="750" dirty="0"/>
          </a:p>
        </p:txBody>
      </p:sp>
      <p:sp>
        <p:nvSpPr>
          <p:cNvPr id="48" name="Text 46"/>
          <p:cNvSpPr/>
          <p:nvPr/>
        </p:nvSpPr>
        <p:spPr>
          <a:xfrm>
            <a:off x="573584" y="4564633"/>
            <a:ext cx="1846659" cy="10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Research &amp; Planning</a:t>
            </a:r>
            <a:endParaRPr lang="en-US" sz="600" dirty="0"/>
          </a:p>
        </p:txBody>
      </p:sp>
      <p:sp>
        <p:nvSpPr>
          <p:cNvPr id="49" name="Shape 47"/>
          <p:cNvSpPr/>
          <p:nvPr/>
        </p:nvSpPr>
        <p:spPr>
          <a:xfrm>
            <a:off x="2546152" y="4337075"/>
            <a:ext cx="2001589" cy="405780"/>
          </a:xfrm>
          <a:prstGeom prst="roundRect">
            <a:avLst>
              <a:gd name="adj" fmla="val 2866"/>
            </a:avLst>
          </a:prstGeom>
          <a:solidFill>
            <a:srgbClr val="3E3E3E"/>
          </a:solidFill>
          <a:ln/>
        </p:spPr>
      </p:sp>
      <p:sp>
        <p:nvSpPr>
          <p:cNvPr id="50" name="Text 48"/>
          <p:cNvSpPr/>
          <p:nvPr/>
        </p:nvSpPr>
        <p:spPr>
          <a:xfrm>
            <a:off x="2623617" y="4414540"/>
            <a:ext cx="1846659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Phase 2 — Weeks 3–5</a:t>
            </a:r>
            <a:endParaRPr lang="en-US" sz="750" dirty="0"/>
          </a:p>
        </p:txBody>
      </p:sp>
      <p:sp>
        <p:nvSpPr>
          <p:cNvPr id="51" name="Text 49"/>
          <p:cNvSpPr/>
          <p:nvPr/>
        </p:nvSpPr>
        <p:spPr>
          <a:xfrm>
            <a:off x="2623617" y="4564633"/>
            <a:ext cx="1846659" cy="10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Core Development</a:t>
            </a:r>
            <a:endParaRPr lang="en-US" sz="600" dirty="0"/>
          </a:p>
        </p:txBody>
      </p:sp>
      <p:sp>
        <p:nvSpPr>
          <p:cNvPr id="52" name="Shape 50"/>
          <p:cNvSpPr/>
          <p:nvPr/>
        </p:nvSpPr>
        <p:spPr>
          <a:xfrm>
            <a:off x="4596185" y="4337075"/>
            <a:ext cx="2001589" cy="405780"/>
          </a:xfrm>
          <a:prstGeom prst="roundRect">
            <a:avLst>
              <a:gd name="adj" fmla="val 2866"/>
            </a:avLst>
          </a:prstGeom>
          <a:solidFill>
            <a:srgbClr val="3E3E3E"/>
          </a:solidFill>
          <a:ln/>
        </p:spPr>
      </p:sp>
      <p:sp>
        <p:nvSpPr>
          <p:cNvPr id="53" name="Text 51"/>
          <p:cNvSpPr/>
          <p:nvPr/>
        </p:nvSpPr>
        <p:spPr>
          <a:xfrm>
            <a:off x="4673650" y="4414540"/>
            <a:ext cx="1846659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Phase 3 — Weeks 6–7</a:t>
            </a:r>
            <a:endParaRPr lang="en-US" sz="750" dirty="0"/>
          </a:p>
        </p:txBody>
      </p:sp>
      <p:sp>
        <p:nvSpPr>
          <p:cNvPr id="54" name="Text 52"/>
          <p:cNvSpPr/>
          <p:nvPr/>
        </p:nvSpPr>
        <p:spPr>
          <a:xfrm>
            <a:off x="4673650" y="4564633"/>
            <a:ext cx="1846659" cy="10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Integration &amp; QA</a:t>
            </a:r>
            <a:endParaRPr lang="en-US" sz="600" dirty="0"/>
          </a:p>
        </p:txBody>
      </p:sp>
      <p:sp>
        <p:nvSpPr>
          <p:cNvPr id="55" name="Shape 53"/>
          <p:cNvSpPr/>
          <p:nvPr/>
        </p:nvSpPr>
        <p:spPr>
          <a:xfrm>
            <a:off x="6646218" y="4337075"/>
            <a:ext cx="2001664" cy="405780"/>
          </a:xfrm>
          <a:prstGeom prst="roundRect">
            <a:avLst>
              <a:gd name="adj" fmla="val 2866"/>
            </a:avLst>
          </a:prstGeom>
          <a:solidFill>
            <a:srgbClr val="3E3E3E"/>
          </a:solidFill>
          <a:ln/>
        </p:spPr>
      </p:sp>
      <p:sp>
        <p:nvSpPr>
          <p:cNvPr id="56" name="Text 54"/>
          <p:cNvSpPr/>
          <p:nvPr/>
        </p:nvSpPr>
        <p:spPr>
          <a:xfrm>
            <a:off x="6723683" y="4414540"/>
            <a:ext cx="1846734" cy="1210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750" dirty="0">
                <a:solidFill>
                  <a:srgbClr val="BFBFBF"/>
                </a:solidFill>
                <a:latin typeface="Instrument Sans Medium" pitchFamily="34" charset="0"/>
                <a:ea typeface="Instrument Sans Medium" pitchFamily="34" charset="-122"/>
                <a:cs typeface="Instrument Sans Medium" pitchFamily="34" charset="-120"/>
              </a:rPr>
              <a:t>Phase 4 — Week 8</a:t>
            </a:r>
            <a:endParaRPr lang="en-US" sz="750" dirty="0"/>
          </a:p>
        </p:txBody>
      </p:sp>
      <p:sp>
        <p:nvSpPr>
          <p:cNvPr id="57" name="Text 55"/>
          <p:cNvSpPr/>
          <p:nvPr/>
        </p:nvSpPr>
        <p:spPr>
          <a:xfrm>
            <a:off x="6723683" y="4564633"/>
            <a:ext cx="1846734" cy="1007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00" dirty="0">
                <a:solidFill>
                  <a:srgbClr val="BFBFBF"/>
                </a:solidFill>
                <a:latin typeface="Open Sans" pitchFamily="34" charset="0"/>
                <a:ea typeface="Open Sans" pitchFamily="34" charset="-122"/>
                <a:cs typeface="Open Sans" pitchFamily="34" charset="-120"/>
              </a:rPr>
              <a:t>Delivery &amp; Docs</a:t>
            </a:r>
            <a:endParaRPr lang="en-US" sz="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2026-08-12T04:37:26Z</dcterms:created>
  <dcterms:modified xsi:type="dcterms:W3CDTF">2026-08-12T04:37:26Z</dcterms:modified>
</cp:coreProperties>
</file>