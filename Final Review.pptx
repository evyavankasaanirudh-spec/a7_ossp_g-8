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Inter Bold" panose="020B0604020202020204" charset="0"/>
      <p:regular r:id="rId16"/>
    </p:embeddedFont>
    <p:embeddedFont>
      <p:font typeface="Space Grotesk SemiBold" panose="020B0604020202020204" charset="0"/>
      <p:regular r:id="rId17"/>
    </p:embeddedFont>
    <p:embeddedFont>
      <p:font typeface="Inter Medium" panose="020B0604020202020204" charset="0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  <p:embeddedFont>
      <p:font typeface="Inter SemiBold" panose="020B0604020202020204" charset="0"/>
      <p:regular r:id="rId24"/>
    </p:embeddedFont>
    <p:embeddedFont>
      <p:font typeface="Space Grotesk Bold" panose="020B060402020202020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734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B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B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B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744220"/>
            <a:ext cx="824844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OSSP PROJECT-BASED LEARNING · FINAL REVIEW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5155" y="1120418"/>
            <a:ext cx="7638859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100" spc="-6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Linux Process Explorer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5154" y="1867495"/>
            <a:ext cx="763885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interactive Linux shell with process management, IPC, I/O redirection, and POSIX threading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4497" y="3677804"/>
            <a:ext cx="7638859" cy="2204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Team Details:</a:t>
            </a:r>
          </a:p>
          <a:p>
            <a:pPr marL="0" indent="0" algn="l">
              <a:lnSpc>
                <a:spcPct val="112000"/>
              </a:lnSpc>
              <a:buNone/>
            </a:pPr>
            <a:endParaRPr lang="en-US" sz="125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 err="1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Evyavan</a:t>
            </a:r>
            <a:r>
              <a:rPr lang="en-US" sz="125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 – 2510030054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 err="1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Suhas</a:t>
            </a:r>
            <a:r>
              <a:rPr lang="en-US" sz="125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 – 2510030119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Rishi - 2510030134</a:t>
            </a:r>
            <a:br>
              <a:rPr lang="en-US" sz="125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</a:b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Department: CSE 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60399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5430404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Linux concepts become tangible when the shell is yours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474615"/>
            <a:ext cx="5430404" cy="2666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shell commands hide the process, file-descriptor, and synchronization work underneath.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ShellForge makes those operating-system concepts visible through a custom C shell in Linux/WSL.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functional shell from scratch.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parsing, process management, pipes, redirection, debugging, and POSIX monitoring.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6" name="Text 4"/>
          <p:cNvSpPr/>
          <p:nvPr/>
        </p:nvSpPr>
        <p:spPr>
          <a:xfrm>
            <a:off x="7386056" y="287020"/>
            <a:ext cx="480563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3D8D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FROM INPUT TO EVIDENCE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86056" y="671116"/>
            <a:ext cx="377816" cy="377825"/>
          </a:xfrm>
          <a:prstGeom prst="roundRect">
            <a:avLst>
              <a:gd name="adj" fmla="val 8571"/>
            </a:avLst>
          </a:prstGeom>
          <a:solidFill>
            <a:srgbClr val="C8F03C"/>
          </a:solidFill>
          <a:ln/>
        </p:spPr>
      </p:sp>
      <p:sp>
        <p:nvSpPr>
          <p:cNvPr id="8" name="Text 6"/>
          <p:cNvSpPr/>
          <p:nvPr/>
        </p:nvSpPr>
        <p:spPr>
          <a:xfrm>
            <a:off x="7529225" y="752078"/>
            <a:ext cx="70096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86056" y="1141333"/>
            <a:ext cx="452624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line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86056" y="1701701"/>
            <a:ext cx="4526246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user enters a command.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86056" y="2602012"/>
            <a:ext cx="377816" cy="377825"/>
          </a:xfrm>
          <a:prstGeom prst="roundRect">
            <a:avLst>
              <a:gd name="adj" fmla="val 8571"/>
            </a:avLst>
          </a:prstGeom>
          <a:solidFill>
            <a:srgbClr val="C8F03C"/>
          </a:solidFill>
          <a:ln/>
        </p:spPr>
      </p:sp>
      <p:sp>
        <p:nvSpPr>
          <p:cNvPr id="12" name="Text 10"/>
          <p:cNvSpPr/>
          <p:nvPr/>
        </p:nvSpPr>
        <p:spPr>
          <a:xfrm>
            <a:off x="7507695" y="2682974"/>
            <a:ext cx="74412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86056" y="3072229"/>
            <a:ext cx="452624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Operating-system mechanisms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86056" y="3632597"/>
            <a:ext cx="452624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Processes, file descriptors, and synchronization do the work.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86056" y="4800005"/>
            <a:ext cx="377816" cy="377825"/>
          </a:xfrm>
          <a:prstGeom prst="roundRect">
            <a:avLst>
              <a:gd name="adj" fmla="val 8571"/>
            </a:avLst>
          </a:prstGeom>
          <a:solidFill>
            <a:srgbClr val="C8F03C"/>
          </a:solidFill>
          <a:ln/>
        </p:spPr>
      </p:sp>
      <p:sp>
        <p:nvSpPr>
          <p:cNvPr id="16" name="Text 14"/>
          <p:cNvSpPr/>
          <p:nvPr/>
        </p:nvSpPr>
        <p:spPr>
          <a:xfrm>
            <a:off x="7506207" y="4880967"/>
            <a:ext cx="74699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86056" y="5270222"/>
            <a:ext cx="452624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Observable behavior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86056" y="5830590"/>
            <a:ext cx="4526246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shell exposes the result.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07430" y="6451898"/>
            <a:ext cx="38426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One command flows through a layered execution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796554"/>
            <a:ext cx="53338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CLASSIFICATION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585" y="2134295"/>
            <a:ext cx="377816" cy="377825"/>
          </a:xfrm>
          <a:prstGeom prst="roundRect">
            <a:avLst>
              <a:gd name="adj" fmla="val 8571"/>
            </a:avLst>
          </a:prstGeom>
          <a:solidFill>
            <a:srgbClr val="C8F03C"/>
          </a:solidFill>
          <a:ln/>
        </p:spPr>
      </p:sp>
      <p:sp>
        <p:nvSpPr>
          <p:cNvPr id="6" name="Text 4"/>
          <p:cNvSpPr/>
          <p:nvPr/>
        </p:nvSpPr>
        <p:spPr>
          <a:xfrm>
            <a:off x="752754" y="2215257"/>
            <a:ext cx="70096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03295" y="2168267"/>
            <a:ext cx="474015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9585" y="2664520"/>
            <a:ext cx="377816" cy="377825"/>
          </a:xfrm>
          <a:prstGeom prst="roundRect">
            <a:avLst>
              <a:gd name="adj" fmla="val 8571"/>
            </a:avLst>
          </a:prstGeom>
          <a:solidFill>
            <a:srgbClr val="C8F03C"/>
          </a:solidFill>
          <a:ln/>
        </p:spPr>
      </p:sp>
      <p:sp>
        <p:nvSpPr>
          <p:cNvPr id="9" name="Text 7"/>
          <p:cNvSpPr/>
          <p:nvPr/>
        </p:nvSpPr>
        <p:spPr>
          <a:xfrm>
            <a:off x="731224" y="2745482"/>
            <a:ext cx="74412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03295" y="2698492"/>
            <a:ext cx="474015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ShellForge prompt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585" y="3194745"/>
            <a:ext cx="377816" cy="377825"/>
          </a:xfrm>
          <a:prstGeom prst="roundRect">
            <a:avLst>
              <a:gd name="adj" fmla="val 8571"/>
            </a:avLst>
          </a:prstGeom>
          <a:solidFill>
            <a:srgbClr val="C8F03C"/>
          </a:solidFill>
          <a:ln/>
        </p:spPr>
      </p:sp>
      <p:sp>
        <p:nvSpPr>
          <p:cNvPr id="12" name="Text 10"/>
          <p:cNvSpPr/>
          <p:nvPr/>
        </p:nvSpPr>
        <p:spPr>
          <a:xfrm>
            <a:off x="729736" y="3275707"/>
            <a:ext cx="74699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03295" y="3228717"/>
            <a:ext cx="474015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handling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9585" y="3724970"/>
            <a:ext cx="377816" cy="377825"/>
          </a:xfrm>
          <a:prstGeom prst="roundRect">
            <a:avLst>
              <a:gd name="adj" fmla="val 8571"/>
            </a:avLst>
          </a:prstGeom>
          <a:solidFill>
            <a:srgbClr val="C8F03C"/>
          </a:solidFill>
          <a:ln/>
        </p:spPr>
      </p:sp>
      <p:sp>
        <p:nvSpPr>
          <p:cNvPr id="15" name="Text 13"/>
          <p:cNvSpPr/>
          <p:nvPr/>
        </p:nvSpPr>
        <p:spPr>
          <a:xfrm>
            <a:off x="726561" y="3805932"/>
            <a:ext cx="75344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03295" y="3758942"/>
            <a:ext cx="474015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parser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9585" y="4255195"/>
            <a:ext cx="377816" cy="377825"/>
          </a:xfrm>
          <a:prstGeom prst="roundRect">
            <a:avLst>
              <a:gd name="adj" fmla="val 8571"/>
            </a:avLst>
          </a:prstGeom>
          <a:solidFill>
            <a:srgbClr val="C8F0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2315" y="4336157"/>
            <a:ext cx="7418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03295" y="4289167"/>
            <a:ext cx="474015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classification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9585" y="4760020"/>
            <a:ext cx="533386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Built-ins · external commands · pipe commands · redirection commands.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248244" y="1564382"/>
            <a:ext cx="5333867" cy="4684018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22" name="Text 20"/>
          <p:cNvSpPr/>
          <p:nvPr/>
        </p:nvSpPr>
        <p:spPr>
          <a:xfrm>
            <a:off x="6527637" y="1851402"/>
            <a:ext cx="505447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3D8D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PROCESS / IPC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27637" y="2168823"/>
            <a:ext cx="4775081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execvp()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waitpid()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pipe()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dup2()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27637" y="3102868"/>
            <a:ext cx="4774981" cy="38100"/>
          </a:xfrm>
          <a:prstGeom prst="roundRect">
            <a:avLst>
              <a:gd name="adj" fmla="val 49999"/>
            </a:avLst>
          </a:prstGeom>
          <a:solidFill>
            <a:srgbClr val="C8F03C"/>
          </a:solidFill>
          <a:ln/>
        </p:spPr>
      </p:sp>
      <p:sp>
        <p:nvSpPr>
          <p:cNvPr id="25" name="Text 23"/>
          <p:cNvSpPr/>
          <p:nvPr/>
        </p:nvSpPr>
        <p:spPr>
          <a:xfrm>
            <a:off x="6527637" y="3329563"/>
            <a:ext cx="505447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3D8D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LINUX OPERATING SYSTEM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27637" y="3646984"/>
            <a:ext cx="477508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the resulting process and file-descriptor operations.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527637" y="4384179"/>
            <a:ext cx="2224925" cy="336649"/>
          </a:xfrm>
          <a:prstGeom prst="roundRect">
            <a:avLst>
              <a:gd name="adj" fmla="val 7696"/>
            </a:avLst>
          </a:prstGeom>
          <a:solidFill>
            <a:srgbClr val="384705"/>
          </a:solidFill>
          <a:ln/>
        </p:spPr>
      </p:sp>
      <p:sp>
        <p:nvSpPr>
          <p:cNvPr id="28" name="Text 26"/>
          <p:cNvSpPr/>
          <p:nvPr/>
        </p:nvSpPr>
        <p:spPr>
          <a:xfrm>
            <a:off x="6657114" y="4463729"/>
            <a:ext cx="2575555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82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DETACHED MONITOR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27637" y="4847828"/>
            <a:ext cx="477508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POSIX monitoring thread runs alongside the interactive shell.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1806339" y="6451898"/>
            <a:ext cx="38535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564887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CORE SHELL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5039293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core shell is modular, dynamic, and process-aware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474615"/>
            <a:ext cx="5039293" cy="3292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input handling, command tokenization, and dynamic token management.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 creation with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program execution with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execvp()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parent-child synchronization with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waitpid()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command handling stays inside the shell.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structure: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bin/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screenshots/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715552" y="0"/>
            <a:ext cx="5476143" cy="685800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6" name="Text 4"/>
          <p:cNvSpPr/>
          <p:nvPr/>
        </p:nvSpPr>
        <p:spPr>
          <a:xfrm>
            <a:off x="7020345" y="312420"/>
            <a:ext cx="51713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3D8D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PROCESS LIFECYCLE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20345" y="2699742"/>
            <a:ext cx="4866558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Shell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Child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Child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execvp()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020345" y="3765550"/>
            <a:ext cx="4866558" cy="31651"/>
          </a:xfrm>
          <a:prstGeom prst="roundRect">
            <a:avLst>
              <a:gd name="adj" fmla="val 49998"/>
            </a:avLst>
          </a:prstGeom>
          <a:solidFill>
            <a:srgbClr val="4A525C"/>
          </a:solidFill>
          <a:ln/>
        </p:spPr>
      </p:sp>
      <p:sp>
        <p:nvSpPr>
          <p:cNvPr id="9" name="Text 7"/>
          <p:cNvSpPr/>
          <p:nvPr/>
        </p:nvSpPr>
        <p:spPr>
          <a:xfrm>
            <a:off x="7020345" y="4046061"/>
            <a:ext cx="517135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Parent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waitpid()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02370" y="6451898"/>
            <a:ext cx="38932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427979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INTER-PROCESS COMMUNICATION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3670208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IPC and pipeline execution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19498"/>
            <a:ext cx="3670208" cy="3605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Anonymous pipes create a communication channel between processes.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pipe()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creates the channel;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dup2()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maps standard input and output.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child processes participate in the two-stage pipeline.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parent closes unused file descriptors and waits for both children.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46566" y="0"/>
            <a:ext cx="6845129" cy="685800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76758" y="1875135"/>
            <a:ext cx="1947417" cy="336649"/>
          </a:xfrm>
          <a:prstGeom prst="roundRect">
            <a:avLst>
              <a:gd name="adj" fmla="val 7696"/>
            </a:avLst>
          </a:prstGeom>
          <a:solidFill>
            <a:srgbClr val="384705"/>
          </a:solidFill>
          <a:ln/>
        </p:spPr>
      </p:sp>
      <p:sp>
        <p:nvSpPr>
          <p:cNvPr id="7" name="Text 5"/>
          <p:cNvSpPr/>
          <p:nvPr/>
        </p:nvSpPr>
        <p:spPr>
          <a:xfrm>
            <a:off x="5806235" y="1954685"/>
            <a:ext cx="2298047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82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TESTED EXAMPLE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76758" y="2408634"/>
            <a:ext cx="6514937" cy="374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ls -l | grep c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676758" y="3034109"/>
            <a:ext cx="1959918" cy="1948755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10" name="Text 8"/>
          <p:cNvSpPr/>
          <p:nvPr/>
        </p:nvSpPr>
        <p:spPr>
          <a:xfrm>
            <a:off x="5854554" y="3218577"/>
            <a:ext cx="160432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854554" y="4190405"/>
            <a:ext cx="1782123" cy="273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ls -l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854554" y="4594324"/>
            <a:ext cx="17821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stdout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89072" y="3034109"/>
            <a:ext cx="1960017" cy="1948755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4" name="Text 12"/>
          <p:cNvSpPr/>
          <p:nvPr/>
        </p:nvSpPr>
        <p:spPr>
          <a:xfrm>
            <a:off x="7966868" y="3218577"/>
            <a:ext cx="16044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pipe()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66868" y="3778945"/>
            <a:ext cx="160442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channel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901486" y="3034109"/>
            <a:ext cx="1959918" cy="1948755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79281" y="3218577"/>
            <a:ext cx="160432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79281" y="4190405"/>
            <a:ext cx="1782123" cy="273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grep c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79281" y="4594324"/>
            <a:ext cx="17821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809712" y="6451898"/>
            <a:ext cx="3819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408423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I/O REDIRECTION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3474653" cy="1820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File descriptors connect commands to files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929731"/>
            <a:ext cx="3474653" cy="255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output redirection ·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append output ·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input redirection ·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2&gt;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error redirection.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accesses the target file;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releases the descriptor;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dup2()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redirects the stream.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150912" y="0"/>
            <a:ext cx="7040783" cy="685800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6" name="Text 4"/>
          <p:cNvSpPr/>
          <p:nvPr/>
        </p:nvSpPr>
        <p:spPr>
          <a:xfrm>
            <a:off x="5430305" y="287020"/>
            <a:ext cx="676139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3D8D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COMMANDS TESTED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30305" y="2083495"/>
            <a:ext cx="6481997" cy="214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45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Hello Week9 &gt; output.txt</a:t>
            </a:r>
            <a:endParaRPr lang="en-US" sz="1450" dirty="0"/>
          </a:p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45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 output.txt</a:t>
            </a:r>
            <a:endParaRPr lang="en-US" sz="1450" dirty="0"/>
          </a:p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45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Second Line &gt;&gt; output.txt</a:t>
            </a:r>
            <a:endParaRPr lang="en-US" sz="1450" dirty="0"/>
          </a:p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45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 &lt; output.txt</a:t>
            </a:r>
            <a:endParaRPr lang="en-US" sz="14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ls /does_not_exist 2&gt; error.txt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30305" y="4472583"/>
            <a:ext cx="6481997" cy="38100"/>
          </a:xfrm>
          <a:prstGeom prst="roundRect">
            <a:avLst>
              <a:gd name="adj" fmla="val 49999"/>
            </a:avLst>
          </a:prstGeom>
          <a:solidFill>
            <a:srgbClr val="C8F03C"/>
          </a:solidFill>
          <a:ln/>
        </p:spPr>
      </p:sp>
      <p:sp>
        <p:nvSpPr>
          <p:cNvPr id="9" name="Text 7"/>
          <p:cNvSpPr/>
          <p:nvPr/>
        </p:nvSpPr>
        <p:spPr>
          <a:xfrm>
            <a:off x="5430305" y="4761905"/>
            <a:ext cx="676139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Redirection is integrated into the existing shell execution flow.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805942" y="6451898"/>
            <a:ext cx="38575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36931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3083542" cy="1820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Validation focused on memory safety and cleanup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932430"/>
            <a:ext cx="308354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used: </a:t>
            </a: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Valgrind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GDB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AddressSanitizer (ASan)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4062512"/>
            <a:ext cx="3083542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for leaks, invalid memory access, use-after-free, double-free, descriptor cleanup, and child-process cleanup.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759801" y="0"/>
            <a:ext cx="7431894" cy="685800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7" name="Text 5"/>
          <p:cNvSpPr/>
          <p:nvPr/>
        </p:nvSpPr>
        <p:spPr>
          <a:xfrm>
            <a:off x="5064594" y="312420"/>
            <a:ext cx="712710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3D8D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SUCCESSFUL RESULT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594" y="696484"/>
            <a:ext cx="431789" cy="431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2277" y="703183"/>
            <a:ext cx="617462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heap blocks were freed — no leaks are possible.</a:t>
            </a:r>
            <a:endParaRPr lang="en-US" sz="2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594" y="1519404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2277" y="1526103"/>
            <a:ext cx="617462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SUMMARY: 0 errors from 0 contexts.</a:t>
            </a:r>
            <a:endParaRPr lang="en-US" sz="2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4594" y="2342324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12277" y="2349024"/>
            <a:ext cx="617462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ASan builds and execution were also tested successfully.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11816261" y="6451898"/>
            <a:ext cx="37543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408423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WEEK 10 · POSIX THREADING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7030"/>
            <a:ext cx="3474653" cy="1820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 detached monitor runs without taking the shell away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929731"/>
            <a:ext cx="3474653" cy="3594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10 adds POSIX threading with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pthread_create()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pthread_detach()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background monitor sleeps between checks and periodically prints “[Monitor] ShellForge Running...”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main shell remains interactive while the monitor runs concurrently.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Concepts studied: </a:t>
            </a:r>
            <a:r>
              <a:rPr lang="en-US" sz="170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pthread_join()</a:t>
            </a: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mutex synchronization, race conditions, and critical sections.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150912" y="1"/>
            <a:ext cx="7040783" cy="685800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6" name="Text 4"/>
          <p:cNvSpPr/>
          <p:nvPr/>
        </p:nvSpPr>
        <p:spPr>
          <a:xfrm>
            <a:off x="5455704" y="312420"/>
            <a:ext cx="673599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3D8D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CONCURRENT EXECUTION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55704" y="696516"/>
            <a:ext cx="2042069" cy="3309144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8" name="Text 6"/>
          <p:cNvSpPr/>
          <p:nvPr/>
        </p:nvSpPr>
        <p:spPr>
          <a:xfrm>
            <a:off x="5684298" y="931783"/>
            <a:ext cx="1584881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Shell Thread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84298" y="1903611"/>
            <a:ext cx="1584881" cy="927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commands</a:t>
            </a:r>
            <a:endParaRPr lang="en-US" sz="14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remains interactive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650170" y="696516"/>
            <a:ext cx="2042168" cy="3309144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1" name="Text 9"/>
          <p:cNvSpPr/>
          <p:nvPr/>
        </p:nvSpPr>
        <p:spPr>
          <a:xfrm>
            <a:off x="7878764" y="931783"/>
            <a:ext cx="158498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878764" y="1492151"/>
            <a:ext cx="1584980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concurrent execution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844734" y="696516"/>
            <a:ext cx="2042069" cy="3309144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73328" y="931783"/>
            <a:ext cx="1584881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Monitor Thread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73328" y="2315071"/>
            <a:ext cx="1584881" cy="1461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Sleeps between checks</a:t>
            </a:r>
            <a:endParaRPr lang="en-US" sz="14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Prints “[Monitor] ShellForge Running...”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55704" y="4251722"/>
            <a:ext cx="6431099" cy="31651"/>
          </a:xfrm>
          <a:prstGeom prst="roundRect">
            <a:avLst>
              <a:gd name="adj" fmla="val 49998"/>
            </a:avLst>
          </a:prstGeom>
          <a:solidFill>
            <a:srgbClr val="4A525C"/>
          </a:solidFill>
          <a:ln/>
        </p:spPr>
      </p:sp>
      <p:sp>
        <p:nvSpPr>
          <p:cNvPr id="17" name="Text 15"/>
          <p:cNvSpPr/>
          <p:nvPr/>
        </p:nvSpPr>
        <p:spPr>
          <a:xfrm>
            <a:off x="5455704" y="4533106"/>
            <a:ext cx="6431198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Implemented: detached monitoring thread. Studied conceptually: </a:t>
            </a:r>
            <a:r>
              <a:rPr lang="en-US" sz="1250" dirty="0">
                <a:solidFill>
                  <a:srgbClr val="D3D8D2"/>
                </a:solidFill>
                <a:highlight>
                  <a:srgbClr val="2A2F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pthread_join()</a:t>
            </a: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mutex synchronization, race conditions, and critical sections.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806240" y="6451898"/>
            <a:ext cx="38545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693420"/>
            <a:ext cx="87564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034653"/>
            <a:ext cx="8146846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84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Results, conclusion, and future scope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65156" y="2649141"/>
            <a:ext cx="8146846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custom Linux shell with dynamic parsing, built-ins, processes, pipes, redirection, debugging validation, and background monitoring.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5156" y="3944541"/>
            <a:ext cx="8146846" cy="99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Compiled and tested in a Linux environment using WSL.</a:t>
            </a:r>
            <a:endParaRPr lang="en-US" sz="14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ShellForge brings processes, IPC, file descriptors, memory management, debugging, and multithreading into one modular C project.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78993" y="5241911"/>
            <a:ext cx="786745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8690" y="5742655"/>
            <a:ext cx="7588060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Multi-stage pipelines, advanced job control, background commands, signal handling, richer monitoring, command history, environment variables, and process statistics.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59828" y="6351795"/>
            <a:ext cx="2965622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kern="100" spc="-48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Thank You ·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734</Words>
  <Application>Microsoft Office PowerPoint</Application>
  <PresentationFormat>Widescreen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Calibri</vt:lpstr>
      <vt:lpstr>Inter Bold</vt:lpstr>
      <vt:lpstr>Space Grotesk SemiBold</vt:lpstr>
      <vt:lpstr>Inter Medium</vt:lpstr>
      <vt:lpstr>Consolas</vt:lpstr>
      <vt:lpstr>Inter</vt:lpstr>
      <vt:lpstr>Arial</vt:lpstr>
      <vt:lpstr>Inter SemiBold</vt:lpstr>
      <vt:lpstr>Space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Evya</cp:lastModifiedBy>
  <cp:revision>2</cp:revision>
  <dcterms:created xsi:type="dcterms:W3CDTF">2026-10-07T07:02:26Z</dcterms:created>
  <dcterms:modified xsi:type="dcterms:W3CDTF">2026-10-07T07:08:23Z</dcterms:modified>
</cp:coreProperties>
</file>